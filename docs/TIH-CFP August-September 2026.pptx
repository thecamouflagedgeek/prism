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Lst>
  <p:sldSz cy="6858000" cx="12192000"/>
  <p:notesSz cx="6858000" cy="9144000"/>
  <p:embeddedFontLst>
    <p:embeddedFont>
      <p:font typeface="Play"/>
      <p:regular r:id="rId6"/>
      <p:bold r:id="rId7"/>
    </p:embeddedFont>
    <p:embeddedFont>
      <p:font typeface="Montserrat"/>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2" roundtripDataSignature="AMtx7mitotvvmlVxday5EgAu/TKdgymS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Montserrat-boldItalic.fntdata"/><Relationship Id="rId10" Type="http://schemas.openxmlformats.org/officeDocument/2006/relationships/font" Target="fonts/Montserrat-italic.fntdata"/><Relationship Id="rId12"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Montserrat-bold.fntdata"/><Relationship Id="rId5" Type="http://schemas.openxmlformats.org/officeDocument/2006/relationships/slide" Target="slides/slide1.xml"/><Relationship Id="rId6" Type="http://schemas.openxmlformats.org/officeDocument/2006/relationships/font" Target="fonts/Play-regular.fntdata"/><Relationship Id="rId7" Type="http://schemas.openxmlformats.org/officeDocument/2006/relationships/font" Target="fonts/Play-bold.fntdata"/><Relationship Id="rId8" Type="http://schemas.openxmlformats.org/officeDocument/2006/relationships/font" Target="fonts/Montserra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91" name="Google Shape;9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 name="Shape 16"/>
        <p:cNvGrpSpPr/>
        <p:nvPr/>
      </p:nvGrpSpPr>
      <p:grpSpPr>
        <a:xfrm>
          <a:off x="0" y="0"/>
          <a:ext cx="0" cy="0"/>
          <a:chOff x="0" y="0"/>
          <a:chExt cx="0" cy="0"/>
        </a:xfrm>
      </p:grpSpPr>
      <p:sp>
        <p:nvSpPr>
          <p:cNvPr id="17" name="Google Shape;17;p3"/>
          <p:cNvSpPr/>
          <p:nvPr/>
        </p:nvSpPr>
        <p:spPr>
          <a:xfrm>
            <a:off x="12638620" y="690565"/>
            <a:ext cx="92389" cy="415444"/>
          </a:xfrm>
          <a:prstGeom prst="rect">
            <a:avLst/>
          </a:prstGeom>
          <a:noFill/>
          <a:ln>
            <a:noFill/>
          </a:ln>
        </p:spPr>
        <p:txBody>
          <a:bodyPr anchorCtr="0" anchor="t" bIns="22825" lIns="45700" spcFirstLastPara="1" rIns="45700" wrap="square" tIns="228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2400" u="none" cap="none" strike="noStrike">
              <a:solidFill>
                <a:srgbClr val="000000"/>
              </a:solidFill>
              <a:latin typeface="Arial"/>
              <a:ea typeface="Arial"/>
              <a:cs typeface="Arial"/>
              <a:sym typeface="Arial"/>
            </a:endParaRPr>
          </a:p>
        </p:txBody>
      </p:sp>
      <p:sp>
        <p:nvSpPr>
          <p:cNvPr id="18" name="Google Shape;18;p3"/>
          <p:cNvSpPr txBox="1"/>
          <p:nvPr>
            <p:ph idx="1" type="body"/>
          </p:nvPr>
        </p:nvSpPr>
        <p:spPr>
          <a:xfrm>
            <a:off x="438151" y="960439"/>
            <a:ext cx="10671175" cy="4854575"/>
          </a:xfrm>
          <a:prstGeom prst="rect">
            <a:avLst/>
          </a:prstGeom>
          <a:noFill/>
          <a:ln>
            <a:noFill/>
          </a:ln>
        </p:spPr>
        <p:txBody>
          <a:bodyPr anchorCtr="0" anchor="t" bIns="45700" lIns="91425" spcFirstLastPara="1" rIns="91425" wrap="square" tIns="45700">
            <a:noAutofit/>
          </a:bodyPr>
          <a:lstStyle>
            <a:lvl1pPr indent="-317500" lvl="0" marL="4572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1pPr>
            <a:lvl2pPr indent="-317500" lvl="1" marL="9144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2pPr>
            <a:lvl3pPr indent="-317500" lvl="2" marL="13716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3pPr>
            <a:lvl4pPr indent="-317500" lvl="3" marL="18288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4pPr>
            <a:lvl5pPr indent="-317500" lvl="4" marL="22860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9pPr>
          </a:lstStyle>
          <a:p/>
        </p:txBody>
      </p:sp>
      <p:sp>
        <p:nvSpPr>
          <p:cNvPr id="19" name="Google Shape;19;p3"/>
          <p:cNvSpPr txBox="1"/>
          <p:nvPr>
            <p:ph type="title"/>
          </p:nvPr>
        </p:nvSpPr>
        <p:spPr>
          <a:xfrm>
            <a:off x="1076915" y="98171"/>
            <a:ext cx="10104400" cy="483148"/>
          </a:xfrm>
          <a:prstGeom prst="rect">
            <a:avLst/>
          </a:prstGeom>
          <a:noFill/>
          <a:ln>
            <a:noFill/>
          </a:ln>
        </p:spPr>
        <p:txBody>
          <a:bodyPr anchorCtr="0" anchor="ctr" bIns="60950" lIns="121900" spcFirstLastPara="1" rIns="121900" wrap="square" tIns="60950">
            <a:noAutofit/>
          </a:bodyPr>
          <a:lstStyle>
            <a:lvl1pPr lvl="0" marR="0" algn="l">
              <a:lnSpc>
                <a:spcPct val="100000"/>
              </a:lnSpc>
              <a:spcBef>
                <a:spcPts val="0"/>
              </a:spcBef>
              <a:spcAft>
                <a:spcPts val="0"/>
              </a:spcAft>
              <a:buClr>
                <a:srgbClr val="000000"/>
              </a:buClr>
              <a:buSzPts val="1400"/>
              <a:buFont typeface="Arial"/>
              <a:buNone/>
              <a:defRPr b="1" i="0" sz="3733" u="none" cap="none" strike="noStrike">
                <a:solidFill>
                  <a:srgbClr val="F59222"/>
                </a:solidFill>
                <a:latin typeface="Montserrat"/>
                <a:ea typeface="Montserrat"/>
                <a:cs typeface="Montserrat"/>
                <a:sym typeface="Montserrat"/>
              </a:defRPr>
            </a:lvl1pPr>
            <a:lvl2pPr lvl="1"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20" name="Shape 20"/>
        <p:cNvGrpSpPr/>
        <p:nvPr/>
      </p:nvGrpSpPr>
      <p:grpSpPr>
        <a:xfrm>
          <a:off x="0" y="0"/>
          <a:ext cx="0" cy="0"/>
          <a:chOff x="0" y="0"/>
          <a:chExt cx="0" cy="0"/>
        </a:xfrm>
      </p:grpSpPr>
      <p:sp>
        <p:nvSpPr>
          <p:cNvPr id="21" name="Google Shape;21;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 name="Google Shape;23;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5" name="Google Shape;35;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3" name="Shape 63"/>
        <p:cNvGrpSpPr/>
        <p:nvPr/>
      </p:nvGrpSpPr>
      <p:grpSpPr>
        <a:xfrm>
          <a:off x="0" y="0"/>
          <a:ext cx="0" cy="0"/>
          <a:chOff x="0" y="0"/>
          <a:chExt cx="0" cy="0"/>
        </a:xfrm>
      </p:grpSpPr>
      <p:sp>
        <p:nvSpPr>
          <p:cNvPr id="64" name="Google Shape;64;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6" name="Google Shape;66;p1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0" name="Shape 70"/>
        <p:cNvGrpSpPr/>
        <p:nvPr/>
      </p:nvGrpSpPr>
      <p:grpSpPr>
        <a:xfrm>
          <a:off x="0" y="0"/>
          <a:ext cx="0" cy="0"/>
          <a:chOff x="0" y="0"/>
          <a:chExt cx="0" cy="0"/>
        </a:xfrm>
      </p:grpSpPr>
      <p:sp>
        <p:nvSpPr>
          <p:cNvPr id="71" name="Google Shape;71;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2"/>
          <p:cNvSpPr/>
          <p:nvPr>
            <p:ph idx="2" type="pic"/>
          </p:nvPr>
        </p:nvSpPr>
        <p:spPr>
          <a:xfrm>
            <a:off x="5183188" y="987425"/>
            <a:ext cx="6172200" cy="4873625"/>
          </a:xfrm>
          <a:prstGeom prst="rect">
            <a:avLst/>
          </a:prstGeom>
          <a:noFill/>
          <a:ln>
            <a:noFill/>
          </a:ln>
        </p:spPr>
      </p:sp>
      <p:sp>
        <p:nvSpPr>
          <p:cNvPr id="73" name="Google Shape;73;p1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3" name="Shape 83"/>
        <p:cNvGrpSpPr/>
        <p:nvPr/>
      </p:nvGrpSpPr>
      <p:grpSpPr>
        <a:xfrm>
          <a:off x="0" y="0"/>
          <a:ext cx="0" cy="0"/>
          <a:chOff x="0" y="0"/>
          <a:chExt cx="0" cy="0"/>
        </a:xfrm>
      </p:grpSpPr>
      <p:sp>
        <p:nvSpPr>
          <p:cNvPr id="84" name="Google Shape;84;p1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A blue and orange logo&#10;&#10;AI-generated content may be incorrect." id="15" name="Google Shape;15;p2"/>
          <p:cNvPicPr preferRelativeResize="0"/>
          <p:nvPr/>
        </p:nvPicPr>
        <p:blipFill rotWithShape="1">
          <a:blip r:embed="rId1">
            <a:alphaModFix/>
          </a:blip>
          <a:srcRect b="0" l="0" r="0" t="0"/>
          <a:stretch/>
        </p:blipFill>
        <p:spPr>
          <a:xfrm>
            <a:off x="11479607" y="7817"/>
            <a:ext cx="685680" cy="70261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9.png"/><Relationship Id="rId13" Type="http://schemas.openxmlformats.org/officeDocument/2006/relationships/hyperlink" Target="https://prism-backend-4mfu.onrender.com/" TargetMode="External"/><Relationship Id="rId12" Type="http://schemas.openxmlformats.org/officeDocument/2006/relationships/hyperlink" Target="https://github.com/thecamouflagedgeek/PRISM.git" TargetMode="External"/><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image" Target="../media/image11.png"/><Relationship Id="rId15" Type="http://schemas.openxmlformats.org/officeDocument/2006/relationships/image" Target="../media/image4.png"/><Relationship Id="rId14" Type="http://schemas.openxmlformats.org/officeDocument/2006/relationships/hyperlink" Target="https://drive.google.com/drive/folders/1Bp1R5hF3XBrDEYBXEWciUBfmwXX_oJC9" TargetMode="External"/><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
          <p:cNvSpPr txBox="1"/>
          <p:nvPr>
            <p:ph type="title"/>
          </p:nvPr>
        </p:nvSpPr>
        <p:spPr>
          <a:xfrm>
            <a:off x="-619364" y="-171841"/>
            <a:ext cx="12192000" cy="483200"/>
          </a:xfrm>
          <a:prstGeom prst="rect">
            <a:avLst/>
          </a:prstGeom>
          <a:noFill/>
          <a:ln>
            <a:noFill/>
          </a:ln>
        </p:spPr>
        <p:txBody>
          <a:bodyPr anchorCtr="0" anchor="ctr" bIns="81250" lIns="162525" spcFirstLastPara="1" rIns="162525" wrap="square" tIns="81250">
            <a:noAutofit/>
          </a:bodyPr>
          <a:lstStyle/>
          <a:p>
            <a:pPr indent="0" lvl="0" marL="0" rtl="0" algn="ctr">
              <a:lnSpc>
                <a:spcPct val="100000"/>
              </a:lnSpc>
              <a:spcBef>
                <a:spcPts val="0"/>
              </a:spcBef>
              <a:spcAft>
                <a:spcPts val="0"/>
              </a:spcAft>
              <a:buSzPts val="1400"/>
              <a:buNone/>
            </a:pPr>
            <a:r>
              <a:rPr lang="en-US" sz="1600">
                <a:solidFill>
                  <a:srgbClr val="002060"/>
                </a:solidFill>
                <a:latin typeface="Times New Roman"/>
                <a:ea typeface="Times New Roman"/>
                <a:cs typeface="Times New Roman"/>
                <a:sym typeface="Times New Roman"/>
              </a:rPr>
              <a:t> </a:t>
            </a:r>
            <a:br>
              <a:rPr lang="en-US" sz="1600">
                <a:solidFill>
                  <a:srgbClr val="002060"/>
                </a:solidFill>
                <a:latin typeface="Times New Roman"/>
                <a:ea typeface="Times New Roman"/>
                <a:cs typeface="Times New Roman"/>
                <a:sym typeface="Times New Roman"/>
              </a:rPr>
            </a:br>
            <a:br>
              <a:rPr lang="en-US" sz="1600">
                <a:solidFill>
                  <a:srgbClr val="4892DC"/>
                </a:solidFill>
                <a:latin typeface="Times New Roman"/>
                <a:ea typeface="Times New Roman"/>
                <a:cs typeface="Times New Roman"/>
                <a:sym typeface="Times New Roman"/>
              </a:rPr>
            </a:br>
            <a:r>
              <a:rPr lang="en-US" sz="1600">
                <a:solidFill>
                  <a:srgbClr val="1F5C99"/>
                </a:solidFill>
                <a:latin typeface="Times New Roman"/>
                <a:ea typeface="Times New Roman"/>
                <a:cs typeface="Times New Roman"/>
                <a:sym typeface="Times New Roman"/>
              </a:rPr>
              <a:t>PROJECT Name  : </a:t>
            </a:r>
            <a:r>
              <a:rPr lang="en-US" sz="1600">
                <a:latin typeface="Times New Roman"/>
                <a:ea typeface="Times New Roman"/>
                <a:cs typeface="Times New Roman"/>
                <a:sym typeface="Times New Roman"/>
              </a:rPr>
              <a:t>PRISM [ Predictive Risk Insights &amp; Scoring Model]</a:t>
            </a:r>
            <a:br>
              <a:rPr lang="en-US" sz="1600">
                <a:solidFill>
                  <a:srgbClr val="1F5C99"/>
                </a:solidFill>
                <a:latin typeface="Times New Roman"/>
                <a:ea typeface="Times New Roman"/>
                <a:cs typeface="Times New Roman"/>
                <a:sym typeface="Times New Roman"/>
              </a:rPr>
            </a:br>
            <a:r>
              <a:rPr lang="en-US" sz="1600">
                <a:solidFill>
                  <a:srgbClr val="002060"/>
                </a:solidFill>
                <a:latin typeface="Times New Roman"/>
                <a:ea typeface="Times New Roman"/>
                <a:cs typeface="Times New Roman"/>
                <a:sym typeface="Times New Roman"/>
              </a:rPr>
              <a:t> </a:t>
            </a:r>
            <a:endParaRPr/>
          </a:p>
        </p:txBody>
      </p:sp>
      <p:cxnSp>
        <p:nvCxnSpPr>
          <p:cNvPr id="94" name="Google Shape;94;p1"/>
          <p:cNvCxnSpPr/>
          <p:nvPr/>
        </p:nvCxnSpPr>
        <p:spPr>
          <a:xfrm flipH="1">
            <a:off x="6157079" y="1388640"/>
            <a:ext cx="22400" cy="5470800"/>
          </a:xfrm>
          <a:prstGeom prst="straightConnector1">
            <a:avLst/>
          </a:prstGeom>
          <a:noFill/>
          <a:ln cap="flat" cmpd="sng" w="19050">
            <a:solidFill>
              <a:schemeClr val="lt1"/>
            </a:solidFill>
            <a:prstDash val="solid"/>
            <a:round/>
            <a:headEnd len="med" w="med" type="oval"/>
            <a:tailEnd len="med" w="med" type="oval"/>
          </a:ln>
        </p:spPr>
      </p:cxnSp>
      <p:cxnSp>
        <p:nvCxnSpPr>
          <p:cNvPr id="95" name="Google Shape;95;p1"/>
          <p:cNvCxnSpPr/>
          <p:nvPr/>
        </p:nvCxnSpPr>
        <p:spPr>
          <a:xfrm>
            <a:off x="174587" y="3879575"/>
            <a:ext cx="11870800" cy="0"/>
          </a:xfrm>
          <a:prstGeom prst="straightConnector1">
            <a:avLst/>
          </a:prstGeom>
          <a:noFill/>
          <a:ln cap="flat" cmpd="sng" w="19050">
            <a:solidFill>
              <a:schemeClr val="lt1"/>
            </a:solidFill>
            <a:prstDash val="solid"/>
            <a:round/>
            <a:headEnd len="med" w="med" type="oval"/>
            <a:tailEnd len="med" w="med" type="oval"/>
          </a:ln>
        </p:spPr>
      </p:cxnSp>
      <p:sp>
        <p:nvSpPr>
          <p:cNvPr id="96" name="Google Shape;96;p1"/>
          <p:cNvSpPr/>
          <p:nvPr/>
        </p:nvSpPr>
        <p:spPr>
          <a:xfrm>
            <a:off x="525383" y="1092437"/>
            <a:ext cx="5233200" cy="4832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133"/>
              <a:buFont typeface="Arial"/>
              <a:buNone/>
            </a:pPr>
            <a:r>
              <a:rPr b="1" i="0" lang="en-US" sz="2133" u="none" cap="none" strike="noStrike">
                <a:solidFill>
                  <a:schemeClr val="lt1"/>
                </a:solidFill>
                <a:latin typeface="Times New Roman"/>
                <a:ea typeface="Times New Roman"/>
                <a:cs typeface="Times New Roman"/>
                <a:sym typeface="Times New Roman"/>
              </a:rPr>
              <a:t>Objective</a:t>
            </a:r>
            <a:endParaRPr b="0" i="0" sz="1867" u="none" cap="none" strike="noStrike">
              <a:solidFill>
                <a:srgbClr val="000000"/>
              </a:solidFill>
              <a:latin typeface="Times New Roman"/>
              <a:ea typeface="Times New Roman"/>
              <a:cs typeface="Times New Roman"/>
              <a:sym typeface="Times New Roman"/>
            </a:endParaRPr>
          </a:p>
        </p:txBody>
      </p:sp>
      <p:sp>
        <p:nvSpPr>
          <p:cNvPr id="97" name="Google Shape;97;p1"/>
          <p:cNvSpPr/>
          <p:nvPr/>
        </p:nvSpPr>
        <p:spPr>
          <a:xfrm>
            <a:off x="6187449" y="1192755"/>
            <a:ext cx="5811400" cy="522967"/>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Key Deliverables in Nov-Dec 2025</a:t>
            </a:r>
            <a:endParaRPr b="0" i="0" sz="2000" u="none" cap="none" strike="noStrike">
              <a:solidFill>
                <a:schemeClr val="lt1"/>
              </a:solidFill>
              <a:latin typeface="Times New Roman"/>
              <a:ea typeface="Times New Roman"/>
              <a:cs typeface="Times New Roman"/>
              <a:sym typeface="Times New Roman"/>
            </a:endParaRPr>
          </a:p>
        </p:txBody>
      </p:sp>
      <p:sp>
        <p:nvSpPr>
          <p:cNvPr id="98" name="Google Shape;98;p1"/>
          <p:cNvSpPr/>
          <p:nvPr/>
        </p:nvSpPr>
        <p:spPr>
          <a:xfrm>
            <a:off x="358776" y="3878704"/>
            <a:ext cx="5558400" cy="4832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133"/>
              <a:buFont typeface="Arial"/>
              <a:buNone/>
            </a:pPr>
            <a:r>
              <a:rPr b="1" i="0" lang="en-US" sz="2133" u="none" cap="none" strike="noStrike">
                <a:solidFill>
                  <a:schemeClr val="lt1"/>
                </a:solidFill>
                <a:latin typeface="Times New Roman"/>
                <a:ea typeface="Times New Roman"/>
                <a:cs typeface="Times New Roman"/>
                <a:sym typeface="Times New Roman"/>
              </a:rPr>
              <a:t>Plan for next 2 month</a:t>
            </a:r>
            <a:endParaRPr b="0" i="0" sz="1867" u="none" cap="none" strike="noStrike">
              <a:solidFill>
                <a:srgbClr val="000000"/>
              </a:solidFill>
              <a:latin typeface="Times New Roman"/>
              <a:ea typeface="Times New Roman"/>
              <a:cs typeface="Times New Roman"/>
              <a:sym typeface="Times New Roman"/>
            </a:endParaRPr>
          </a:p>
        </p:txBody>
      </p:sp>
      <p:sp>
        <p:nvSpPr>
          <p:cNvPr id="99" name="Google Shape;99;p1"/>
          <p:cNvSpPr txBox="1"/>
          <p:nvPr>
            <p:ph idx="1" type="body"/>
          </p:nvPr>
        </p:nvSpPr>
        <p:spPr>
          <a:xfrm>
            <a:off x="466375" y="1920125"/>
            <a:ext cx="6434700" cy="4898700"/>
          </a:xfrm>
          <a:prstGeom prst="rect">
            <a:avLst/>
          </a:prstGeom>
          <a:noFill/>
          <a:ln>
            <a:noFill/>
          </a:ln>
        </p:spPr>
        <p:txBody>
          <a:bodyPr anchorCtr="0" anchor="t" bIns="60925" lIns="121900" spcFirstLastPara="1" rIns="121900" wrap="square" tIns="60925">
            <a:noAutofit/>
          </a:bodyPr>
          <a:lstStyle/>
          <a:p>
            <a:pPr indent="0" lvl="0" marL="16932" rtl="0" algn="just">
              <a:lnSpc>
                <a:spcPct val="100000"/>
              </a:lnSpc>
              <a:spcBef>
                <a:spcPts val="0"/>
              </a:spcBef>
              <a:spcAft>
                <a:spcPts val="0"/>
              </a:spcAft>
              <a:buSzPts val="1200"/>
              <a:buNone/>
            </a:pPr>
            <a:r>
              <a:rPr b="1" lang="en-US" sz="1400">
                <a:solidFill>
                  <a:srgbClr val="1F5C99"/>
                </a:solidFill>
                <a:latin typeface="Times New Roman"/>
                <a:ea typeface="Times New Roman"/>
                <a:cs typeface="Times New Roman"/>
                <a:sym typeface="Times New Roman"/>
              </a:rPr>
              <a:t>Business Value &amp; Game changers: </a:t>
            </a:r>
            <a:endParaRPr/>
          </a:p>
          <a:p>
            <a:pPr indent="0" lvl="0" marL="0" rtl="0" algn="l">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Explainability: </a:t>
            </a:r>
            <a:r>
              <a:rPr lang="en-US" sz="1200">
                <a:solidFill>
                  <a:schemeClr val="dk1"/>
                </a:solidFill>
                <a:latin typeface="Times New Roman"/>
                <a:ea typeface="Times New Roman"/>
                <a:cs typeface="Times New Roman"/>
                <a:sym typeface="Times New Roman"/>
              </a:rPr>
              <a:t>Feature-level contributions and reason codes make credit decisions interpretable.</a:t>
            </a:r>
            <a:endParaRPr sz="12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Accuracy: </a:t>
            </a:r>
            <a:r>
              <a:rPr lang="en-US" sz="1200">
                <a:solidFill>
                  <a:schemeClr val="dk1"/>
                </a:solidFill>
                <a:latin typeface="Times New Roman"/>
                <a:ea typeface="Times New Roman"/>
                <a:cs typeface="Times New Roman"/>
                <a:sym typeface="Times New Roman"/>
              </a:rPr>
              <a:t>Refitted WoE binning improves alignment with representative credit-risk data.</a:t>
            </a:r>
            <a:endParaRPr sz="12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Transparency:</a:t>
            </a:r>
            <a:r>
              <a:rPr lang="en-US" sz="1200">
                <a:solidFill>
                  <a:schemeClr val="dk1"/>
                </a:solidFill>
                <a:latin typeface="Times New Roman"/>
                <a:ea typeface="Times New Roman"/>
                <a:cs typeface="Times New Roman"/>
                <a:sym typeface="Times New Roman"/>
              </a:rPr>
              <a:t> Positive, negative and neutral feature impacts explain every generated score.</a:t>
            </a:r>
            <a:endParaRPr sz="12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Reliability:</a:t>
            </a:r>
            <a:r>
              <a:rPr lang="en-US" sz="1200">
                <a:solidFill>
                  <a:schemeClr val="dk1"/>
                </a:solidFill>
                <a:latin typeface="Times New Roman"/>
                <a:ea typeface="Times New Roman"/>
                <a:cs typeface="Times New Roman"/>
                <a:sym typeface="Times New Roman"/>
              </a:rPr>
              <a:t> Model calibration, score distribution and PD relationships are being validated.</a:t>
            </a:r>
            <a:endParaRPr sz="12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Traceability:</a:t>
            </a:r>
            <a:r>
              <a:rPr lang="en-US" sz="1200">
                <a:solidFill>
                  <a:schemeClr val="dk1"/>
                </a:solidFill>
                <a:latin typeface="Times New Roman"/>
                <a:ea typeface="Times New Roman"/>
                <a:cs typeface="Times New Roman"/>
                <a:sym typeface="Times New Roman"/>
              </a:rPr>
              <a:t> Explanations are persisted against individual risk scores in PostgreSQL.</a:t>
            </a:r>
            <a:endParaRPr sz="12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Production Readiness: </a:t>
            </a:r>
            <a:r>
              <a:rPr lang="en-US" sz="1200">
                <a:solidFill>
                  <a:schemeClr val="dk1"/>
                </a:solidFill>
                <a:latin typeface="Times New Roman"/>
                <a:ea typeface="Times New Roman"/>
                <a:cs typeface="Times New Roman"/>
                <a:sym typeface="Times New Roman"/>
              </a:rPr>
              <a:t>Complete scoring-to-explanation flow is integrated through the backend.</a:t>
            </a:r>
            <a:endParaRPr sz="1200">
              <a:solidFill>
                <a:schemeClr val="dk1"/>
              </a:solidFill>
              <a:latin typeface="Times New Roman"/>
              <a:ea typeface="Times New Roman"/>
              <a:cs typeface="Times New Roman"/>
              <a:sym typeface="Times New Roman"/>
            </a:endParaRPr>
          </a:p>
          <a:p>
            <a:pPr indent="0" lvl="0" marL="16932" rtl="0" algn="just">
              <a:lnSpc>
                <a:spcPct val="100000"/>
              </a:lnSpc>
              <a:spcBef>
                <a:spcPts val="0"/>
              </a:spcBef>
              <a:spcAft>
                <a:spcPts val="0"/>
              </a:spcAft>
              <a:buSzPts val="1200"/>
              <a:buNone/>
            </a:pPr>
            <a:r>
              <a:t/>
            </a:r>
            <a:endParaRPr b="1" sz="1400">
              <a:solidFill>
                <a:srgbClr val="1F5C99"/>
              </a:solidFill>
              <a:latin typeface="Times New Roman"/>
              <a:ea typeface="Times New Roman"/>
              <a:cs typeface="Times New Roman"/>
              <a:sym typeface="Times New Roman"/>
            </a:endParaRPr>
          </a:p>
          <a:p>
            <a:pPr indent="0" lvl="0" marL="16932" rtl="0" algn="just">
              <a:lnSpc>
                <a:spcPct val="100000"/>
              </a:lnSpc>
              <a:spcBef>
                <a:spcPts val="0"/>
              </a:spcBef>
              <a:spcAft>
                <a:spcPts val="0"/>
              </a:spcAft>
              <a:buSzPts val="1200"/>
              <a:buNone/>
            </a:pPr>
            <a:r>
              <a:rPr b="1" lang="en-US" sz="1400">
                <a:solidFill>
                  <a:srgbClr val="1F5C99"/>
                </a:solidFill>
                <a:latin typeface="Times New Roman"/>
                <a:ea typeface="Times New Roman"/>
                <a:cs typeface="Times New Roman"/>
                <a:sym typeface="Times New Roman"/>
              </a:rPr>
              <a:t>Key Accomplishments |  : </a:t>
            </a:r>
            <a:r>
              <a:rPr b="1" lang="en-US" sz="1400">
                <a:solidFill>
                  <a:srgbClr val="1F5C99"/>
                </a:solidFill>
                <a:latin typeface="Times New Roman"/>
                <a:ea typeface="Times New Roman"/>
                <a:cs typeface="Times New Roman"/>
                <a:sym typeface="Times New Roman"/>
              </a:rPr>
              <a:t>August 2026</a:t>
            </a:r>
            <a:r>
              <a:rPr b="1" lang="en-US" sz="1400">
                <a:solidFill>
                  <a:srgbClr val="1F5C99"/>
                </a:solidFill>
                <a:latin typeface="Times New Roman"/>
                <a:ea typeface="Times New Roman"/>
                <a:cs typeface="Times New Roman"/>
                <a:sym typeface="Times New Roman"/>
              </a:rPr>
              <a:t> </a:t>
            </a:r>
            <a:endParaRPr/>
          </a:p>
          <a:p>
            <a:pPr indent="-304800" lvl="0" marL="457200" rtl="0" algn="l">
              <a:lnSpc>
                <a:spcPct val="115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Refitted Optimal Binning and WoE models using the Loan Default and Credit Risk dataset.</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Validated Logistic Regression, PDO scorecard and credit baseline infrastructure.</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Integrated feature-level explanations and ranked reason codes into the scoring pipeline.</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Persisted explanation records and score contributions against individual risk scores.</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Verified end-to-end /assess API output against corresponding PostgreSQL records.</a:t>
            </a:r>
            <a:endParaRPr sz="1200">
              <a:solidFill>
                <a:schemeClr val="dk1"/>
              </a:solidFill>
              <a:latin typeface="Times New Roman"/>
              <a:ea typeface="Times New Roman"/>
              <a:cs typeface="Times New Roman"/>
              <a:sym typeface="Times New Roman"/>
            </a:endParaRPr>
          </a:p>
          <a:p>
            <a:pPr indent="0" lvl="0" marL="16932" rtl="0" algn="just">
              <a:lnSpc>
                <a:spcPct val="100000"/>
              </a:lnSpc>
              <a:spcBef>
                <a:spcPts val="1200"/>
              </a:spcBef>
              <a:spcAft>
                <a:spcPts val="0"/>
              </a:spcAft>
              <a:buSzPts val="1200"/>
              <a:buNone/>
            </a:pPr>
            <a:r>
              <a:rPr b="1" lang="en-US" sz="1400">
                <a:solidFill>
                  <a:srgbClr val="1F5C99"/>
                </a:solidFill>
                <a:latin typeface="Times New Roman"/>
                <a:ea typeface="Times New Roman"/>
                <a:cs typeface="Times New Roman"/>
                <a:sym typeface="Times New Roman"/>
              </a:rPr>
              <a:t>Reusable Assets/Solutions/Opportunities:</a:t>
            </a:r>
            <a:r>
              <a:rPr b="1" lang="en-US" sz="1300">
                <a:solidFill>
                  <a:srgbClr val="1F5C99"/>
                </a:solidFill>
                <a:latin typeface="Times New Roman"/>
                <a:ea typeface="Times New Roman"/>
                <a:cs typeface="Times New Roman"/>
                <a:sym typeface="Times New Roman"/>
              </a:rPr>
              <a:t> </a:t>
            </a:r>
            <a:r>
              <a:rPr b="1" lang="en-US" sz="1300">
                <a:solidFill>
                  <a:schemeClr val="dk1"/>
                </a:solidFill>
                <a:latin typeface="Times New Roman"/>
                <a:ea typeface="Times New Roman"/>
                <a:cs typeface="Times New Roman"/>
                <a:sym typeface="Times New Roman"/>
              </a:rPr>
              <a:t>Yes. </a:t>
            </a:r>
            <a:r>
              <a:rPr lang="en-US" sz="1300">
                <a:solidFill>
                  <a:schemeClr val="dk1"/>
                </a:solidFill>
                <a:latin typeface="Times New Roman"/>
                <a:ea typeface="Times New Roman"/>
                <a:cs typeface="Times New Roman"/>
                <a:sym typeface="Times New Roman"/>
              </a:rPr>
              <a:t>These include WoE binning models, scorecard artifacts, explainability logic, and persistent explanation records.</a:t>
            </a:r>
            <a:endParaRPr sz="1300">
              <a:latin typeface="Times New Roman"/>
              <a:ea typeface="Times New Roman"/>
              <a:cs typeface="Times New Roman"/>
              <a:sym typeface="Times New Roman"/>
            </a:endParaRPr>
          </a:p>
          <a:p>
            <a:pPr indent="0" lvl="0" marL="0" rtl="0" algn="just">
              <a:lnSpc>
                <a:spcPct val="100000"/>
              </a:lnSpc>
              <a:spcBef>
                <a:spcPts val="0"/>
              </a:spcBef>
              <a:spcAft>
                <a:spcPts val="0"/>
              </a:spcAft>
              <a:buSzPts val="1200"/>
              <a:buNone/>
            </a:pPr>
            <a:r>
              <a:t/>
            </a:r>
            <a:endParaRPr sz="1400">
              <a:latin typeface="Times New Roman"/>
              <a:ea typeface="Times New Roman"/>
              <a:cs typeface="Times New Roman"/>
              <a:sym typeface="Times New Roman"/>
            </a:endParaRPr>
          </a:p>
          <a:p>
            <a:pPr indent="0" lvl="0" marL="16932" rtl="0" algn="just">
              <a:lnSpc>
                <a:spcPct val="100000"/>
              </a:lnSpc>
              <a:spcBef>
                <a:spcPts val="0"/>
              </a:spcBef>
              <a:spcAft>
                <a:spcPts val="0"/>
              </a:spcAft>
              <a:buSzPts val="1200"/>
              <a:buNone/>
            </a:pPr>
            <a:r>
              <a:rPr b="1" lang="en-US" sz="1400">
                <a:solidFill>
                  <a:srgbClr val="1F5C99"/>
                </a:solidFill>
                <a:latin typeface="Times New Roman"/>
                <a:ea typeface="Times New Roman"/>
                <a:cs typeface="Times New Roman"/>
                <a:sym typeface="Times New Roman"/>
              </a:rPr>
              <a:t>Upcoming Milestone: </a:t>
            </a:r>
            <a:r>
              <a:rPr b="1" lang="en-US" sz="1400">
                <a:solidFill>
                  <a:srgbClr val="1F5C99"/>
                </a:solidFill>
                <a:latin typeface="Times New Roman"/>
                <a:ea typeface="Times New Roman"/>
                <a:cs typeface="Times New Roman"/>
                <a:sym typeface="Times New Roman"/>
              </a:rPr>
              <a:t>Fraud &amp; Document Checks</a:t>
            </a:r>
            <a:endParaRPr b="1" sz="1400">
              <a:solidFill>
                <a:srgbClr val="1F5C99"/>
              </a:solidFill>
              <a:latin typeface="Times New Roman"/>
              <a:ea typeface="Times New Roman"/>
              <a:cs typeface="Times New Roman"/>
              <a:sym typeface="Times New Roman"/>
            </a:endParaRPr>
          </a:p>
          <a:p>
            <a:pPr indent="-285750" lvl="0" marL="457200" rtl="0" algn="l">
              <a:lnSpc>
                <a:spcPct val="115000"/>
              </a:lnSpc>
              <a:spcBef>
                <a:spcPts val="0"/>
              </a:spcBef>
              <a:spcAft>
                <a:spcPts val="0"/>
              </a:spcAft>
              <a:buClr>
                <a:schemeClr val="dk1"/>
              </a:buClr>
              <a:buSzPts val="900"/>
              <a:buChar char="●"/>
            </a:pPr>
            <a:r>
              <a:rPr lang="en-US" sz="1300">
                <a:solidFill>
                  <a:schemeClr val="dk1"/>
                </a:solidFill>
                <a:latin typeface="Times New Roman"/>
                <a:ea typeface="Times New Roman"/>
                <a:cs typeface="Times New Roman"/>
                <a:sym typeface="Times New Roman"/>
              </a:rPr>
              <a:t>Implement loan stacking detection and fraud/anomaly signals.</a:t>
            </a:r>
            <a:endParaRPr sz="1300">
              <a:solidFill>
                <a:schemeClr val="dk1"/>
              </a:solidFill>
              <a:latin typeface="Times New Roman"/>
              <a:ea typeface="Times New Roman"/>
              <a:cs typeface="Times New Roman"/>
              <a:sym typeface="Times New Roman"/>
            </a:endParaRPr>
          </a:p>
          <a:p>
            <a:pPr indent="-285750" lvl="0" marL="457200" rtl="0" algn="l">
              <a:lnSpc>
                <a:spcPct val="115000"/>
              </a:lnSpc>
              <a:spcBef>
                <a:spcPts val="0"/>
              </a:spcBef>
              <a:spcAft>
                <a:spcPts val="0"/>
              </a:spcAft>
              <a:buClr>
                <a:schemeClr val="dk1"/>
              </a:buClr>
              <a:buSzPts val="900"/>
              <a:buChar char="●"/>
            </a:pPr>
            <a:r>
              <a:rPr lang="en-US" sz="1300">
                <a:solidFill>
                  <a:schemeClr val="dk1"/>
                </a:solidFill>
                <a:latin typeface="Times New Roman"/>
                <a:ea typeface="Times New Roman"/>
                <a:cs typeface="Times New Roman"/>
                <a:sym typeface="Times New Roman"/>
              </a:rPr>
              <a:t>Build OCR, metadata validation and document-check pipeline.</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400"/>
              <a:buNone/>
            </a:pPr>
            <a:r>
              <a:t/>
            </a:r>
            <a:endParaRPr sz="13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1400"/>
              <a:buNone/>
            </a:pPr>
            <a:r>
              <a:t/>
            </a:r>
            <a:endParaRPr b="1" sz="1200">
              <a:solidFill>
                <a:schemeClr val="dk1"/>
              </a:solidFill>
              <a:latin typeface="Times New Roman"/>
              <a:ea typeface="Times New Roman"/>
              <a:cs typeface="Times New Roman"/>
              <a:sym typeface="Times New Roman"/>
            </a:endParaRPr>
          </a:p>
          <a:p>
            <a:pPr indent="0" lvl="0" marL="16932" rtl="0" algn="just">
              <a:lnSpc>
                <a:spcPct val="100000"/>
              </a:lnSpc>
              <a:spcBef>
                <a:spcPts val="1200"/>
              </a:spcBef>
              <a:spcAft>
                <a:spcPts val="0"/>
              </a:spcAft>
              <a:buSzPts val="1200"/>
              <a:buNone/>
            </a:pPr>
            <a:r>
              <a:t/>
            </a:r>
            <a:endParaRPr b="1" sz="1400">
              <a:solidFill>
                <a:srgbClr val="1F5C99"/>
              </a:solidFill>
              <a:latin typeface="Times New Roman"/>
              <a:ea typeface="Times New Roman"/>
              <a:cs typeface="Times New Roman"/>
              <a:sym typeface="Times New Roman"/>
            </a:endParaRPr>
          </a:p>
        </p:txBody>
      </p:sp>
      <p:sp>
        <p:nvSpPr>
          <p:cNvPr id="100" name="Google Shape;100;p1"/>
          <p:cNvSpPr txBox="1"/>
          <p:nvPr/>
        </p:nvSpPr>
        <p:spPr>
          <a:xfrm>
            <a:off x="-538375" y="205268"/>
            <a:ext cx="12192000" cy="4926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F5C99"/>
                </a:solidFill>
                <a:latin typeface="Times New Roman"/>
                <a:ea typeface="Times New Roman"/>
                <a:cs typeface="Times New Roman"/>
                <a:sym typeface="Times New Roman"/>
              </a:rPr>
              <a:t>Domain: </a:t>
            </a:r>
            <a:r>
              <a:rPr b="1" i="0" lang="en-US" sz="1600" u="none" cap="none" strike="noStrike">
                <a:solidFill>
                  <a:schemeClr val="dk1"/>
                </a:solidFill>
                <a:latin typeface="Times New Roman"/>
                <a:ea typeface="Times New Roman"/>
                <a:cs typeface="Times New Roman"/>
                <a:sym typeface="Times New Roman"/>
              </a:rPr>
              <a:t>Insurance/Fintech || </a:t>
            </a:r>
            <a:r>
              <a:rPr b="1" i="0" lang="en-US" sz="1600" u="none" cap="none" strike="noStrike">
                <a:solidFill>
                  <a:srgbClr val="1F5C99"/>
                </a:solidFill>
                <a:latin typeface="Times New Roman"/>
                <a:ea typeface="Times New Roman"/>
                <a:cs typeface="Times New Roman"/>
                <a:sym typeface="Times New Roman"/>
              </a:rPr>
              <a:t>Team: </a:t>
            </a:r>
            <a:r>
              <a:rPr b="1" i="0" lang="en-US" sz="1600" u="none" cap="none" strike="noStrike">
                <a:solidFill>
                  <a:schemeClr val="dk1"/>
                </a:solidFill>
                <a:latin typeface="Times New Roman"/>
                <a:ea typeface="Times New Roman"/>
                <a:cs typeface="Times New Roman"/>
                <a:sym typeface="Times New Roman"/>
              </a:rPr>
              <a:t>Hazel Sequeira, Freia Quadros</a:t>
            </a:r>
            <a:endParaRPr b="1" i="0" sz="1600" u="none" cap="none" strike="noStrike">
              <a:solidFill>
                <a:srgbClr val="000000"/>
              </a:solidFill>
              <a:latin typeface="Times New Roman"/>
              <a:ea typeface="Times New Roman"/>
              <a:cs typeface="Times New Roman"/>
              <a:sym typeface="Times New Roman"/>
            </a:endParaRPr>
          </a:p>
        </p:txBody>
      </p:sp>
      <p:pic>
        <p:nvPicPr>
          <p:cNvPr descr="A red and white target with a yellow arrow&#10;&#10;AI-generated content may be incorrect." id="101" name="Google Shape;101;p1"/>
          <p:cNvPicPr preferRelativeResize="0"/>
          <p:nvPr/>
        </p:nvPicPr>
        <p:blipFill rotWithShape="1">
          <a:blip r:embed="rId3">
            <a:alphaModFix/>
          </a:blip>
          <a:srcRect b="0" l="0" r="0" t="0"/>
          <a:stretch/>
        </p:blipFill>
        <p:spPr>
          <a:xfrm>
            <a:off x="70378" y="1136037"/>
            <a:ext cx="396000" cy="396000"/>
          </a:xfrm>
          <a:prstGeom prst="rect">
            <a:avLst/>
          </a:prstGeom>
          <a:noFill/>
          <a:ln>
            <a:noFill/>
          </a:ln>
        </p:spPr>
      </p:pic>
      <p:pic>
        <p:nvPicPr>
          <p:cNvPr descr="A group of people with arms up and a star above them&#10;&#10;AI-generated content may be incorrect." id="102" name="Google Shape;102;p1"/>
          <p:cNvPicPr preferRelativeResize="0"/>
          <p:nvPr/>
        </p:nvPicPr>
        <p:blipFill rotWithShape="1">
          <a:blip r:embed="rId4">
            <a:alphaModFix/>
          </a:blip>
          <a:srcRect b="0" l="0" r="0" t="0"/>
          <a:stretch/>
        </p:blipFill>
        <p:spPr>
          <a:xfrm>
            <a:off x="138801" y="3472720"/>
            <a:ext cx="396000" cy="396000"/>
          </a:xfrm>
          <a:prstGeom prst="rect">
            <a:avLst/>
          </a:prstGeom>
          <a:noFill/>
          <a:ln>
            <a:noFill/>
          </a:ln>
        </p:spPr>
      </p:pic>
      <p:pic>
        <p:nvPicPr>
          <p:cNvPr descr="A handshake with a tick and a white cloud&#10;&#10;AI-generated content may be incorrect." id="103" name="Google Shape;103;p1"/>
          <p:cNvPicPr preferRelativeResize="0"/>
          <p:nvPr/>
        </p:nvPicPr>
        <p:blipFill rotWithShape="1">
          <a:blip r:embed="rId5">
            <a:alphaModFix/>
          </a:blip>
          <a:srcRect b="0" l="0" r="0" t="0"/>
          <a:stretch/>
        </p:blipFill>
        <p:spPr>
          <a:xfrm>
            <a:off x="6652016" y="1937983"/>
            <a:ext cx="396000" cy="396000"/>
          </a:xfrm>
          <a:prstGeom prst="rect">
            <a:avLst/>
          </a:prstGeom>
          <a:noFill/>
          <a:ln>
            <a:noFill/>
          </a:ln>
        </p:spPr>
      </p:pic>
      <p:pic>
        <p:nvPicPr>
          <p:cNvPr descr="A person holding a paper plane&#10;&#10;AI-generated content may be incorrect." id="104" name="Google Shape;104;p1"/>
          <p:cNvPicPr preferRelativeResize="0"/>
          <p:nvPr/>
        </p:nvPicPr>
        <p:blipFill rotWithShape="1">
          <a:blip r:embed="rId6">
            <a:alphaModFix/>
          </a:blip>
          <a:srcRect b="0" l="0" r="0" t="0"/>
          <a:stretch/>
        </p:blipFill>
        <p:spPr>
          <a:xfrm>
            <a:off x="6652029" y="3034158"/>
            <a:ext cx="396000" cy="396000"/>
          </a:xfrm>
          <a:prstGeom prst="rect">
            <a:avLst/>
          </a:prstGeom>
          <a:noFill/>
          <a:ln>
            <a:noFill/>
          </a:ln>
        </p:spPr>
      </p:pic>
      <p:sp>
        <p:nvSpPr>
          <p:cNvPr id="105" name="Google Shape;105;p1"/>
          <p:cNvSpPr txBox="1"/>
          <p:nvPr/>
        </p:nvSpPr>
        <p:spPr>
          <a:xfrm>
            <a:off x="7159257" y="1864658"/>
            <a:ext cx="4886100" cy="41211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F5C99"/>
                </a:solidFill>
                <a:latin typeface="Times New Roman"/>
                <a:ea typeface="Times New Roman"/>
                <a:cs typeface="Times New Roman"/>
                <a:sym typeface="Times New Roman"/>
              </a:rPr>
              <a:t>Planned Deliverables (Next one Month):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Implement loan stacking detection using hashed identity, basic OCR parsing, document metadata checks, and anomaly detection logic. Integrate fraud flags and document validation logs into the existing PRISM backend and database.</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1F5C9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F5C99"/>
                </a:solidFill>
                <a:latin typeface="Times New Roman"/>
                <a:ea typeface="Times New Roman"/>
                <a:cs typeface="Times New Roman"/>
                <a:sym typeface="Times New Roman"/>
              </a:rPr>
              <a:t>Risks &amp; Challenges:</a:t>
            </a:r>
            <a:endParaRPr b="1" i="0" sz="1400" u="none" cap="none" strike="noStrike">
              <a:solidFill>
                <a:srgbClr val="1F5C9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lang="en-US">
                <a:solidFill>
                  <a:srgbClr val="FF6D6D"/>
                </a:solidFill>
                <a:latin typeface="Times New Roman"/>
                <a:ea typeface="Times New Roman"/>
                <a:cs typeface="Times New Roman"/>
                <a:sym typeface="Times New Roman"/>
              </a:rPr>
              <a:t>Further validation is needed to strengthen model accuracy and calibration. Explainability is integrated end-to-end, with additional testing needed to ensure consistent reason codes across borrower profiles.</a:t>
            </a:r>
            <a:endParaRPr b="0" i="0" sz="1400" u="none" cap="none" strike="noStrike">
              <a:solidFill>
                <a:srgbClr val="FF6D6D"/>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6D6D"/>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F5C99"/>
                </a:solidFill>
                <a:latin typeface="Times New Roman"/>
                <a:ea typeface="Times New Roman"/>
                <a:cs typeface="Times New Roman"/>
                <a:sym typeface="Times New Roman"/>
              </a:rPr>
              <a:t>Feedback &amp; improvements: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Focus on improving scorecard accuracy and calibration, while refining explainability outputs and validating feature contributions across varied borrower profiles.</a:t>
            </a:r>
            <a:endParaRPr b="0" i="0" sz="1400" u="none" cap="none" strike="noStrike">
              <a:solidFill>
                <a:srgbClr val="000000"/>
              </a:solidFill>
              <a:latin typeface="Times New Roman"/>
              <a:ea typeface="Times New Roman"/>
              <a:cs typeface="Times New Roman"/>
              <a:sym typeface="Times New Roman"/>
            </a:endParaRPr>
          </a:p>
          <a:p>
            <a:pPr indent="-254000" lvl="0" marL="342900" marR="0" rtl="0" algn="l">
              <a:lnSpc>
                <a:spcPct val="100000"/>
              </a:lnSpc>
              <a:spcBef>
                <a:spcPts val="0"/>
              </a:spcBef>
              <a:spcAft>
                <a:spcPts val="0"/>
              </a:spcAft>
              <a:buClr>
                <a:srgbClr val="000000"/>
              </a:buClr>
              <a:buSzPts val="1400"/>
              <a:buFont typeface="Play"/>
              <a:buNone/>
            </a:pPr>
            <a:r>
              <a:t/>
            </a:r>
            <a:endParaRPr b="0" i="0" sz="1400" u="none" cap="none" strike="noStrike">
              <a:solidFill>
                <a:srgbClr val="000000"/>
              </a:solidFill>
              <a:latin typeface="Times New Roman"/>
              <a:ea typeface="Times New Roman"/>
              <a:cs typeface="Times New Roman"/>
              <a:sym typeface="Times New Roman"/>
            </a:endParaRPr>
          </a:p>
          <a:p>
            <a:pPr indent="-254000" lvl="0" marL="342900" marR="0" rtl="0" algn="l">
              <a:lnSpc>
                <a:spcPct val="100000"/>
              </a:lnSpc>
              <a:spcBef>
                <a:spcPts val="0"/>
              </a:spcBef>
              <a:spcAft>
                <a:spcPts val="0"/>
              </a:spcAft>
              <a:buClr>
                <a:srgbClr val="000000"/>
              </a:buClr>
              <a:buSzPts val="1400"/>
              <a:buFont typeface="Play"/>
              <a:buNone/>
            </a:pPr>
            <a:r>
              <a:t/>
            </a:r>
            <a:endParaRPr b="0" i="0" sz="1400" u="none" cap="none" strike="noStrike">
              <a:solidFill>
                <a:srgbClr val="000000"/>
              </a:solidFill>
              <a:latin typeface="Times New Roman"/>
              <a:ea typeface="Times New Roman"/>
              <a:cs typeface="Times New Roman"/>
              <a:sym typeface="Times New Roman"/>
            </a:endParaRPr>
          </a:p>
        </p:txBody>
      </p:sp>
      <p:pic>
        <p:nvPicPr>
          <p:cNvPr descr="A clipboard with a graph on it&#10;&#10;AI-generated content may be incorrect." id="106" name="Google Shape;106;p1"/>
          <p:cNvPicPr preferRelativeResize="0"/>
          <p:nvPr/>
        </p:nvPicPr>
        <p:blipFill rotWithShape="1">
          <a:blip r:embed="rId7">
            <a:alphaModFix/>
          </a:blip>
          <a:srcRect b="0" l="0" r="0" t="0"/>
          <a:stretch/>
        </p:blipFill>
        <p:spPr>
          <a:xfrm>
            <a:off x="70368" y="1983775"/>
            <a:ext cx="396000" cy="396000"/>
          </a:xfrm>
          <a:prstGeom prst="rect">
            <a:avLst/>
          </a:prstGeom>
          <a:noFill/>
          <a:ln>
            <a:noFill/>
          </a:ln>
        </p:spPr>
      </p:pic>
      <p:pic>
        <p:nvPicPr>
          <p:cNvPr descr="A couple of people sitting at a table&#10;&#10;AI-generated content may be incorrect." id="107" name="Google Shape;107;p1"/>
          <p:cNvPicPr preferRelativeResize="0"/>
          <p:nvPr/>
        </p:nvPicPr>
        <p:blipFill rotWithShape="1">
          <a:blip r:embed="rId8">
            <a:alphaModFix/>
          </a:blip>
          <a:srcRect b="0" l="0" r="0" t="0"/>
          <a:stretch/>
        </p:blipFill>
        <p:spPr>
          <a:xfrm>
            <a:off x="6727529" y="4469055"/>
            <a:ext cx="396000" cy="396000"/>
          </a:xfrm>
          <a:prstGeom prst="rect">
            <a:avLst/>
          </a:prstGeom>
          <a:noFill/>
          <a:ln>
            <a:noFill/>
          </a:ln>
        </p:spPr>
      </p:pic>
      <p:sp>
        <p:nvSpPr>
          <p:cNvPr id="108" name="Google Shape;108;p1"/>
          <p:cNvSpPr txBox="1"/>
          <p:nvPr/>
        </p:nvSpPr>
        <p:spPr>
          <a:xfrm>
            <a:off x="471875" y="917949"/>
            <a:ext cx="113928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F5C99"/>
                </a:solidFill>
                <a:latin typeface="Times New Roman"/>
                <a:ea typeface="Times New Roman"/>
                <a:cs typeface="Times New Roman"/>
                <a:sym typeface="Times New Roman"/>
              </a:rPr>
              <a:t>Milestone Objective: </a:t>
            </a:r>
            <a:r>
              <a:rPr b="0" i="0" lang="en-US" sz="1600" u="none" cap="none" strike="noStrike">
                <a:solidFill>
                  <a:schemeClr val="dk1"/>
                </a:solidFill>
                <a:latin typeface="Times New Roman"/>
                <a:ea typeface="Times New Roman"/>
                <a:cs typeface="Times New Roman"/>
                <a:sym typeface="Times New Roman"/>
              </a:rPr>
              <a:t>PRISM delivers an integrated credit intelligence platform that validates documents, detects fraud, and generates explainable risk scores, addressing trust and reliability gaps in digital lending. It benefits lenders by improving decision confidence and borrowers by enabling fairer credit access.</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p:txBody>
      </p:sp>
      <p:cxnSp>
        <p:nvCxnSpPr>
          <p:cNvPr id="109" name="Google Shape;109;p1"/>
          <p:cNvCxnSpPr/>
          <p:nvPr/>
        </p:nvCxnSpPr>
        <p:spPr>
          <a:xfrm>
            <a:off x="405314" y="890820"/>
            <a:ext cx="11640073" cy="0"/>
          </a:xfrm>
          <a:prstGeom prst="straightConnector1">
            <a:avLst/>
          </a:prstGeom>
          <a:noFill/>
          <a:ln cap="flat" cmpd="sng" w="19050">
            <a:solidFill>
              <a:schemeClr val="dk1"/>
            </a:solidFill>
            <a:prstDash val="solid"/>
            <a:miter lim="0"/>
            <a:headEnd len="sm" w="sm" type="none"/>
            <a:tailEnd len="sm" w="sm" type="none"/>
          </a:ln>
        </p:spPr>
      </p:cxnSp>
      <p:pic>
        <p:nvPicPr>
          <p:cNvPr id="110" name="Google Shape;110;p1"/>
          <p:cNvPicPr preferRelativeResize="0"/>
          <p:nvPr/>
        </p:nvPicPr>
        <p:blipFill rotWithShape="1">
          <a:blip r:embed="rId9">
            <a:alphaModFix/>
          </a:blip>
          <a:srcRect b="0" l="0" r="0" t="0"/>
          <a:stretch/>
        </p:blipFill>
        <p:spPr>
          <a:xfrm>
            <a:off x="138792" y="4911492"/>
            <a:ext cx="396000" cy="396000"/>
          </a:xfrm>
          <a:prstGeom prst="rect">
            <a:avLst/>
          </a:prstGeom>
          <a:noFill/>
          <a:ln>
            <a:noFill/>
          </a:ln>
        </p:spPr>
      </p:pic>
      <p:pic>
        <p:nvPicPr>
          <p:cNvPr id="111" name="Google Shape;111;p1"/>
          <p:cNvPicPr preferRelativeResize="0"/>
          <p:nvPr/>
        </p:nvPicPr>
        <p:blipFill rotWithShape="1">
          <a:blip r:embed="rId10">
            <a:alphaModFix/>
          </a:blip>
          <a:srcRect b="0" l="0" r="0" t="0"/>
          <a:stretch/>
        </p:blipFill>
        <p:spPr>
          <a:xfrm>
            <a:off x="6727529" y="5624184"/>
            <a:ext cx="396000" cy="396000"/>
          </a:xfrm>
          <a:prstGeom prst="rect">
            <a:avLst/>
          </a:prstGeom>
          <a:noFill/>
          <a:ln>
            <a:noFill/>
          </a:ln>
        </p:spPr>
      </p:pic>
      <p:sp>
        <p:nvSpPr>
          <p:cNvPr id="112" name="Google Shape;112;p1"/>
          <p:cNvSpPr txBox="1"/>
          <p:nvPr/>
        </p:nvSpPr>
        <p:spPr>
          <a:xfrm>
            <a:off x="7123531" y="6134647"/>
            <a:ext cx="4232400" cy="344400"/>
          </a:xfrm>
          <a:prstGeom prst="rect">
            <a:avLst/>
          </a:prstGeom>
          <a:noFill/>
          <a:ln>
            <a:noFill/>
          </a:ln>
        </p:spPr>
        <p:txBody>
          <a:bodyPr anchorCtr="0" anchor="t" bIns="60925" lIns="121900" spcFirstLastPara="1" rIns="121900" wrap="square" tIns="60925">
            <a:noAutofit/>
          </a:bodyPr>
          <a:lstStyle/>
          <a:p>
            <a:pPr indent="0" lvl="0" marL="16932" marR="0" rtl="0" algn="just">
              <a:lnSpc>
                <a:spcPct val="100000"/>
              </a:lnSpc>
              <a:spcBef>
                <a:spcPts val="0"/>
              </a:spcBef>
              <a:spcAft>
                <a:spcPts val="0"/>
              </a:spcAft>
              <a:buClr>
                <a:srgbClr val="000000"/>
              </a:buClr>
              <a:buSzPts val="1200"/>
              <a:buFont typeface="Arial"/>
              <a:buNone/>
            </a:pPr>
            <a:r>
              <a:rPr b="1" i="0" lang="en-US" sz="1400" u="none" cap="none" strike="noStrike">
                <a:solidFill>
                  <a:srgbClr val="1F5C99"/>
                </a:solidFill>
                <a:latin typeface="Times New Roman"/>
                <a:ea typeface="Times New Roman"/>
                <a:cs typeface="Times New Roman"/>
                <a:sym typeface="Times New Roman"/>
              </a:rPr>
              <a:t>Demo Links</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16932" marR="0" rtl="0" algn="just">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pic>
        <p:nvPicPr>
          <p:cNvPr id="113" name="Google Shape;113;p1"/>
          <p:cNvPicPr preferRelativeResize="0"/>
          <p:nvPr/>
        </p:nvPicPr>
        <p:blipFill rotWithShape="1">
          <a:blip r:embed="rId11">
            <a:alphaModFix/>
          </a:blip>
          <a:srcRect b="0" l="0" r="0" t="0"/>
          <a:stretch/>
        </p:blipFill>
        <p:spPr>
          <a:xfrm>
            <a:off x="6727526" y="6249161"/>
            <a:ext cx="396000" cy="396000"/>
          </a:xfrm>
          <a:prstGeom prst="rect">
            <a:avLst/>
          </a:prstGeom>
          <a:noFill/>
          <a:ln>
            <a:noFill/>
          </a:ln>
        </p:spPr>
      </p:pic>
      <p:sp>
        <p:nvSpPr>
          <p:cNvPr id="114" name="Google Shape;114;p1"/>
          <p:cNvSpPr txBox="1"/>
          <p:nvPr/>
        </p:nvSpPr>
        <p:spPr>
          <a:xfrm>
            <a:off x="7104699" y="5641325"/>
            <a:ext cx="4940700" cy="344400"/>
          </a:xfrm>
          <a:prstGeom prst="rect">
            <a:avLst/>
          </a:prstGeom>
          <a:noFill/>
          <a:ln>
            <a:noFill/>
          </a:ln>
        </p:spPr>
        <p:txBody>
          <a:bodyPr anchorCtr="0" anchor="t" bIns="60925" lIns="121900" spcFirstLastPara="1" rIns="121900" wrap="square" tIns="60925">
            <a:noAutofit/>
          </a:bodyPr>
          <a:lstStyle/>
          <a:p>
            <a:pPr indent="0" lvl="0" marL="16932" marR="0" rtl="0" algn="just">
              <a:lnSpc>
                <a:spcPct val="100000"/>
              </a:lnSpc>
              <a:spcBef>
                <a:spcPts val="0"/>
              </a:spcBef>
              <a:spcAft>
                <a:spcPts val="0"/>
              </a:spcAft>
              <a:buClr>
                <a:srgbClr val="000000"/>
              </a:buClr>
              <a:buSzPts val="1200"/>
              <a:buFont typeface="Arial"/>
              <a:buNone/>
            </a:pPr>
            <a:r>
              <a:rPr b="1" i="0" lang="en-US" sz="1400" u="none" cap="none" strike="noStrike">
                <a:solidFill>
                  <a:srgbClr val="1F5C99"/>
                </a:solidFill>
                <a:latin typeface="Times New Roman"/>
                <a:ea typeface="Times New Roman"/>
                <a:cs typeface="Times New Roman"/>
                <a:sym typeface="Times New Roman"/>
              </a:rPr>
              <a:t>GithubLinks</a:t>
            </a:r>
            <a:r>
              <a:rPr b="0" i="0" lang="en-US" sz="1400" u="none" cap="none" strike="noStrike">
                <a:solidFill>
                  <a:srgbClr val="000000"/>
                </a:solidFill>
                <a:latin typeface="Times New Roman"/>
                <a:ea typeface="Times New Roman"/>
                <a:cs typeface="Times New Roman"/>
                <a:sym typeface="Times New Roman"/>
              </a:rPr>
              <a:t>:  </a:t>
            </a:r>
            <a:r>
              <a:rPr b="0" i="0" lang="en-US" sz="1400" u="sng" cap="none" strike="noStrike">
                <a:solidFill>
                  <a:schemeClr val="hlink"/>
                </a:solidFill>
                <a:latin typeface="Times New Roman"/>
                <a:ea typeface="Times New Roman"/>
                <a:cs typeface="Times New Roman"/>
                <a:sym typeface="Times New Roman"/>
                <a:hlinkClick r:id="rId12"/>
              </a:rPr>
              <a:t>https://github.com/thecamouflagedgeek/PRISM.git</a:t>
            </a:r>
            <a:endParaRPr b="0" i="0" sz="14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rPr b="0" i="0" lang="en-US" sz="1200" u="sng" cap="none" strike="noStrike">
                <a:solidFill>
                  <a:schemeClr val="hlink"/>
                </a:solidFill>
                <a:latin typeface="Times New Roman"/>
                <a:ea typeface="Times New Roman"/>
                <a:cs typeface="Times New Roman"/>
                <a:sym typeface="Times New Roman"/>
                <a:hlinkClick r:id="rId13"/>
              </a:rPr>
              <a:t>https://prism-backend-4mfu.onrender.com/</a:t>
            </a:r>
            <a:endParaRPr b="0" i="0" sz="12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rPr b="0" i="0" lang="en-US" sz="1000" u="sng" cap="none" strike="noStrike">
                <a:solidFill>
                  <a:schemeClr val="hlink"/>
                </a:solidFill>
                <a:latin typeface="Times New Roman"/>
                <a:ea typeface="Times New Roman"/>
                <a:cs typeface="Times New Roman"/>
                <a:sym typeface="Times New Roman"/>
                <a:hlinkClick r:id="rId14"/>
              </a:rPr>
              <a:t>https://drive.google.com/drive/folders/1Bp1R5hF3XBrDEYBXEWciUBfmwXX_oJC9</a:t>
            </a:r>
            <a:r>
              <a:rPr b="0" i="0" lang="en-US" sz="1000" u="none" cap="none" strike="noStrike">
                <a:solidFill>
                  <a:srgbClr val="000000"/>
                </a:solidFill>
                <a:latin typeface="Times New Roman"/>
                <a:ea typeface="Times New Roman"/>
                <a:cs typeface="Times New Roman"/>
                <a:sym typeface="Times New Roman"/>
              </a:rPr>
              <a:t> </a:t>
            </a:r>
            <a:endParaRPr b="0" i="0" sz="10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pic>
        <p:nvPicPr>
          <p:cNvPr id="115" name="Google Shape;115;p1"/>
          <p:cNvPicPr preferRelativeResize="0"/>
          <p:nvPr/>
        </p:nvPicPr>
        <p:blipFill rotWithShape="1">
          <a:blip r:embed="rId15">
            <a:alphaModFix/>
          </a:blip>
          <a:srcRect b="0" l="0" r="0" t="0"/>
          <a:stretch/>
        </p:blipFill>
        <p:spPr>
          <a:xfrm>
            <a:off x="138793" y="5523520"/>
            <a:ext cx="396000" cy="396000"/>
          </a:xfrm>
          <a:prstGeom prst="rect">
            <a:avLst/>
          </a:prstGeom>
          <a:noFill/>
          <a:ln>
            <a:noFill/>
          </a:ln>
        </p:spPr>
      </p:pic>
      <p:sp>
        <p:nvSpPr>
          <p:cNvPr id="116" name="Google Shape;116;p1"/>
          <p:cNvSpPr txBox="1"/>
          <p:nvPr/>
        </p:nvSpPr>
        <p:spPr>
          <a:xfrm>
            <a:off x="0" y="477912"/>
            <a:ext cx="12192000" cy="4926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F5C99"/>
                </a:solidFill>
                <a:latin typeface="Times New Roman"/>
                <a:ea typeface="Times New Roman"/>
                <a:cs typeface="Times New Roman"/>
                <a:sym typeface="Times New Roman"/>
              </a:rPr>
              <a:t>Starting TRL: </a:t>
            </a:r>
            <a:r>
              <a:rPr b="1" i="0" lang="en-US" sz="1600" u="none" cap="none" strike="noStrike">
                <a:solidFill>
                  <a:srgbClr val="3F3F3F"/>
                </a:solidFill>
                <a:latin typeface="Times New Roman"/>
                <a:ea typeface="Times New Roman"/>
                <a:cs typeface="Times New Roman"/>
                <a:sym typeface="Times New Roman"/>
              </a:rPr>
              <a:t>(March - TRL 3)</a:t>
            </a:r>
            <a:r>
              <a:rPr b="1" i="0" lang="en-US" sz="1600" u="none" cap="none" strike="noStrike">
                <a:solidFill>
                  <a:schemeClr val="dk1"/>
                </a:solidFill>
                <a:latin typeface="Times New Roman"/>
                <a:ea typeface="Times New Roman"/>
                <a:cs typeface="Times New Roman"/>
                <a:sym typeface="Times New Roman"/>
              </a:rPr>
              <a:t> || </a:t>
            </a:r>
            <a:r>
              <a:rPr b="1" i="0" lang="en-US" sz="1600" u="none" cap="none" strike="noStrike">
                <a:solidFill>
                  <a:srgbClr val="1F5C99"/>
                </a:solidFill>
                <a:latin typeface="Times New Roman"/>
                <a:ea typeface="Times New Roman"/>
                <a:cs typeface="Times New Roman"/>
                <a:sym typeface="Times New Roman"/>
              </a:rPr>
              <a:t>Current TRL: </a:t>
            </a:r>
            <a:r>
              <a:rPr b="1" i="0" lang="en-US" sz="1600" u="none" cap="none" strike="noStrike">
                <a:solidFill>
                  <a:schemeClr val="dk1"/>
                </a:solidFill>
                <a:latin typeface="Times New Roman"/>
                <a:ea typeface="Times New Roman"/>
                <a:cs typeface="Times New Roman"/>
                <a:sym typeface="Times New Roman"/>
              </a:rPr>
              <a:t>3 || </a:t>
            </a:r>
            <a:r>
              <a:rPr b="1" i="0" lang="en-US" sz="1600" u="none" cap="none" strike="noStrike">
                <a:solidFill>
                  <a:srgbClr val="1F5C99"/>
                </a:solidFill>
                <a:latin typeface="Times New Roman"/>
                <a:ea typeface="Times New Roman"/>
                <a:cs typeface="Times New Roman"/>
                <a:sym typeface="Times New Roman"/>
              </a:rPr>
              <a:t>Target TRL: </a:t>
            </a:r>
            <a:r>
              <a:rPr b="1" i="0" lang="en-US" sz="1600" u="none" cap="none" strike="noStrike">
                <a:solidFill>
                  <a:schemeClr val="dk1"/>
                </a:solidFill>
                <a:latin typeface="Times New Roman"/>
                <a:ea typeface="Times New Roman"/>
                <a:cs typeface="Times New Roman"/>
                <a:sym typeface="Times New Roman"/>
              </a:rPr>
              <a:t>4 </a:t>
            </a:r>
            <a:r>
              <a:rPr b="1" i="0" lang="en-US" sz="1600" u="none" cap="none" strike="noStrike">
                <a:solidFill>
                  <a:srgbClr val="3F3F3F"/>
                </a:solidFill>
                <a:latin typeface="Times New Roman"/>
                <a:ea typeface="Times New Roman"/>
                <a:cs typeface="Times New Roman"/>
                <a:sym typeface="Times New Roman"/>
              </a:rPr>
              <a:t>(December-2026)</a:t>
            </a:r>
            <a:r>
              <a:rPr b="1" i="0" lang="en-US" sz="1600" u="none" cap="none" strike="noStrike">
                <a:solidFill>
                  <a:schemeClr val="dk1"/>
                </a:solidFill>
                <a:latin typeface="Times New Roman"/>
                <a:ea typeface="Times New Roman"/>
                <a:cs typeface="Times New Roman"/>
                <a:sym typeface="Times New Roman"/>
              </a:rPr>
              <a:t> || </a:t>
            </a:r>
            <a:r>
              <a:rPr b="1" i="0" lang="en-US" sz="1600" u="none" cap="none" strike="noStrike">
                <a:solidFill>
                  <a:srgbClr val="1F5C99"/>
                </a:solidFill>
                <a:latin typeface="Times New Roman"/>
                <a:ea typeface="Times New Roman"/>
                <a:cs typeface="Times New Roman"/>
                <a:sym typeface="Times New Roman"/>
              </a:rPr>
              <a:t>Overall Project Status: </a:t>
            </a:r>
            <a:endParaRPr b="1" i="0" sz="1600" u="none" cap="none" strike="noStrike">
              <a:solidFill>
                <a:srgbClr val="000000"/>
              </a:solidFill>
              <a:latin typeface="Times New Roman"/>
              <a:ea typeface="Times New Roman"/>
              <a:cs typeface="Times New Roman"/>
              <a:sym typeface="Times New Roman"/>
            </a:endParaRPr>
          </a:p>
        </p:txBody>
      </p:sp>
      <p:cxnSp>
        <p:nvCxnSpPr>
          <p:cNvPr id="117" name="Google Shape;117;p1"/>
          <p:cNvCxnSpPr/>
          <p:nvPr/>
        </p:nvCxnSpPr>
        <p:spPr>
          <a:xfrm>
            <a:off x="495727" y="1817920"/>
            <a:ext cx="11640000" cy="0"/>
          </a:xfrm>
          <a:prstGeom prst="straightConnector1">
            <a:avLst/>
          </a:prstGeom>
          <a:noFill/>
          <a:ln cap="flat" cmpd="sng" w="19050">
            <a:solidFill>
              <a:schemeClr val="dk1"/>
            </a:solidFill>
            <a:prstDash val="solid"/>
            <a:miter lim="0"/>
            <a:headEnd len="sm" w="sm" type="none"/>
            <a:tailEnd len="sm" w="sm" type="none"/>
          </a:ln>
        </p:spPr>
      </p:cxnSp>
      <p:sp>
        <p:nvSpPr>
          <p:cNvPr id="118" name="Google Shape;118;p1"/>
          <p:cNvSpPr/>
          <p:nvPr/>
        </p:nvSpPr>
        <p:spPr>
          <a:xfrm>
            <a:off x="10973826" y="564185"/>
            <a:ext cx="252900" cy="239700"/>
          </a:xfrm>
          <a:prstGeom prst="ellipse">
            <a:avLst/>
          </a:prstGeom>
          <a:solidFill>
            <a:srgbClr val="B3E5A0"/>
          </a:solidFill>
          <a:ln cap="flat" cmpd="sng" w="19050">
            <a:solidFill>
              <a:srgbClr val="082836"/>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595959"/>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2026-01-12T08:43:54Z</dcterms:created>
  <dc:creator>Gaurav Seshan</dc:creator>
</cp:coreProperties>
</file>