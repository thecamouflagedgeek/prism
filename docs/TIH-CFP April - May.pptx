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6858000" cx="12192000"/>
  <p:notesSz cx="6858000" cy="9144000"/>
  <p:embeddedFontLst>
    <p:embeddedFont>
      <p:font typeface="Play"/>
      <p:regular r:id="rId6"/>
      <p:bold r:id="rId7"/>
    </p:embeddedFont>
    <p:embeddedFont>
      <p:font typeface="Montserrat"/>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iKmHmsfb8zYwIT4ZAByItVdCm4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Montserrat-boldItalic.fntdata"/><Relationship Id="rId10" Type="http://schemas.openxmlformats.org/officeDocument/2006/relationships/font" Target="fonts/Montserrat-italic.fntdata"/><Relationship Id="rId12"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Montserrat-bold.fntdata"/><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 Id="rId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91" name="Google Shape;9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
        <p:nvSpPr>
          <p:cNvPr id="17" name="Google Shape;17;p3"/>
          <p:cNvSpPr/>
          <p:nvPr/>
        </p:nvSpPr>
        <p:spPr>
          <a:xfrm>
            <a:off x="12638620" y="690565"/>
            <a:ext cx="92389" cy="415444"/>
          </a:xfrm>
          <a:prstGeom prst="rect">
            <a:avLst/>
          </a:prstGeom>
          <a:noFill/>
          <a:ln>
            <a:noFill/>
          </a:ln>
        </p:spPr>
        <p:txBody>
          <a:bodyPr anchorCtr="0" anchor="t" bIns="22825" lIns="45700" spcFirstLastPara="1" rIns="45700" wrap="square" tIns="228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2400" u="none" cap="none" strike="noStrike">
              <a:solidFill>
                <a:srgbClr val="000000"/>
              </a:solidFill>
              <a:latin typeface="Arial"/>
              <a:ea typeface="Arial"/>
              <a:cs typeface="Arial"/>
              <a:sym typeface="Arial"/>
            </a:endParaRPr>
          </a:p>
        </p:txBody>
      </p:sp>
      <p:sp>
        <p:nvSpPr>
          <p:cNvPr id="18" name="Google Shape;18;p3"/>
          <p:cNvSpPr txBox="1"/>
          <p:nvPr>
            <p:ph idx="1" type="body"/>
          </p:nvPr>
        </p:nvSpPr>
        <p:spPr>
          <a:xfrm>
            <a:off x="438151" y="960439"/>
            <a:ext cx="10671175" cy="4854575"/>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
        <p:nvSpPr>
          <p:cNvPr id="19" name="Google Shape;19;p3"/>
          <p:cNvSpPr txBox="1"/>
          <p:nvPr>
            <p:ph type="title"/>
          </p:nvPr>
        </p:nvSpPr>
        <p:spPr>
          <a:xfrm>
            <a:off x="1076915" y="98171"/>
            <a:ext cx="10104400" cy="483148"/>
          </a:xfrm>
          <a:prstGeom prst="rect">
            <a:avLst/>
          </a:prstGeom>
          <a:noFill/>
          <a:ln>
            <a:noFill/>
          </a:ln>
        </p:spPr>
        <p:txBody>
          <a:bodyPr anchorCtr="0" anchor="ctr" bIns="60950" lIns="121900" spcFirstLastPara="1" rIns="121900" wrap="square" tIns="60950">
            <a:noAutofit/>
          </a:bodyPr>
          <a:lstStyle>
            <a:lvl1pPr lvl="0" marR="0" algn="l">
              <a:lnSpc>
                <a:spcPct val="100000"/>
              </a:lnSpc>
              <a:spcBef>
                <a:spcPts val="0"/>
              </a:spcBef>
              <a:spcAft>
                <a:spcPts val="0"/>
              </a:spcAft>
              <a:buClr>
                <a:srgbClr val="000000"/>
              </a:buClr>
              <a:buSzPts val="1400"/>
              <a:buFont typeface="Arial"/>
              <a:buNone/>
              <a:defRPr b="1" i="0" sz="3733" u="none" cap="none" strike="noStrike">
                <a:solidFill>
                  <a:srgbClr val="F59222"/>
                </a:solidFill>
                <a:latin typeface="Montserrat"/>
                <a:ea typeface="Montserrat"/>
                <a:cs typeface="Montserrat"/>
                <a:sym typeface="Montserrat"/>
              </a:defRPr>
            </a:lvl1pPr>
            <a:lvl2pPr lvl="1"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p:nvPr>
            <p:ph idx="2" type="pic"/>
          </p:nvPr>
        </p:nvSpPr>
        <p:spPr>
          <a:xfrm>
            <a:off x="5183188" y="987425"/>
            <a:ext cx="6172200" cy="4873625"/>
          </a:xfrm>
          <a:prstGeom prst="rect">
            <a:avLst/>
          </a:prstGeom>
          <a:noFill/>
          <a:ln>
            <a:noFill/>
          </a:ln>
        </p:spPr>
      </p:sp>
      <p:sp>
        <p:nvSpPr>
          <p:cNvPr id="73" name="Google Shape;73;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blue and orange logo&#10;&#10;AI-generated content may be incorrect." id="15" name="Google Shape;15;p2"/>
          <p:cNvPicPr preferRelativeResize="0"/>
          <p:nvPr/>
        </p:nvPicPr>
        <p:blipFill rotWithShape="1">
          <a:blip r:embed="rId1">
            <a:alphaModFix/>
          </a:blip>
          <a:srcRect b="0" l="0" r="0" t="0"/>
          <a:stretch/>
        </p:blipFill>
        <p:spPr>
          <a:xfrm>
            <a:off x="11479607" y="7817"/>
            <a:ext cx="685680" cy="70261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1.png"/><Relationship Id="rId13" Type="http://schemas.openxmlformats.org/officeDocument/2006/relationships/hyperlink" Target="https://prism-backend-4mfu.onrender.com/" TargetMode="External"/><Relationship Id="rId12" Type="http://schemas.openxmlformats.org/officeDocument/2006/relationships/hyperlink" Target="https://github.com/thecamouflagedgeek/PRISM.git"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6.png"/><Relationship Id="rId15" Type="http://schemas.openxmlformats.org/officeDocument/2006/relationships/image" Target="../media/image10.png"/><Relationship Id="rId14" Type="http://schemas.openxmlformats.org/officeDocument/2006/relationships/hyperlink" Target="https://drive.google.com/drive/folders/1Bp1R5hF3XBrDEYBXEWciUBfmwXX_oJC9" TargetMode="External"/><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title"/>
          </p:nvPr>
        </p:nvSpPr>
        <p:spPr>
          <a:xfrm>
            <a:off x="-619364" y="-171841"/>
            <a:ext cx="12192000" cy="483200"/>
          </a:xfrm>
          <a:prstGeom prst="rect">
            <a:avLst/>
          </a:prstGeom>
          <a:noFill/>
          <a:ln>
            <a:noFill/>
          </a:ln>
        </p:spPr>
        <p:txBody>
          <a:bodyPr anchorCtr="0" anchor="ctr" bIns="81250" lIns="162525" spcFirstLastPara="1" rIns="162525" wrap="square" tIns="81250">
            <a:noAutofit/>
          </a:bodyPr>
          <a:lstStyle/>
          <a:p>
            <a:pPr indent="0" lvl="0" marL="0" rtl="0" algn="ctr">
              <a:lnSpc>
                <a:spcPct val="100000"/>
              </a:lnSpc>
              <a:spcBef>
                <a:spcPts val="0"/>
              </a:spcBef>
              <a:spcAft>
                <a:spcPts val="0"/>
              </a:spcAft>
              <a:buSzPts val="1400"/>
              <a:buNone/>
            </a:pPr>
            <a:r>
              <a:rPr lang="en-US" sz="1600">
                <a:solidFill>
                  <a:srgbClr val="002060"/>
                </a:solidFill>
                <a:latin typeface="Times New Roman"/>
                <a:ea typeface="Times New Roman"/>
                <a:cs typeface="Times New Roman"/>
                <a:sym typeface="Times New Roman"/>
              </a:rPr>
              <a:t> </a:t>
            </a:r>
            <a:br>
              <a:rPr lang="en-US" sz="1600">
                <a:solidFill>
                  <a:srgbClr val="002060"/>
                </a:solidFill>
                <a:latin typeface="Times New Roman"/>
                <a:ea typeface="Times New Roman"/>
                <a:cs typeface="Times New Roman"/>
                <a:sym typeface="Times New Roman"/>
              </a:rPr>
            </a:br>
            <a:br>
              <a:rPr lang="en-US" sz="1600">
                <a:solidFill>
                  <a:srgbClr val="4892DC"/>
                </a:solidFill>
                <a:latin typeface="Times New Roman"/>
                <a:ea typeface="Times New Roman"/>
                <a:cs typeface="Times New Roman"/>
                <a:sym typeface="Times New Roman"/>
              </a:rPr>
            </a:br>
            <a:r>
              <a:rPr lang="en-US" sz="1600">
                <a:solidFill>
                  <a:srgbClr val="1F5C99"/>
                </a:solidFill>
                <a:latin typeface="Times New Roman"/>
                <a:ea typeface="Times New Roman"/>
                <a:cs typeface="Times New Roman"/>
                <a:sym typeface="Times New Roman"/>
              </a:rPr>
              <a:t>PROJECT Name  : </a:t>
            </a:r>
            <a:r>
              <a:rPr lang="en-US" sz="1600">
                <a:latin typeface="Times New Roman"/>
                <a:ea typeface="Times New Roman"/>
                <a:cs typeface="Times New Roman"/>
                <a:sym typeface="Times New Roman"/>
              </a:rPr>
              <a:t>PRISM [ Predictive Risk Insights &amp; Scoring Model]</a:t>
            </a:r>
            <a:br>
              <a:rPr lang="en-US" sz="1600">
                <a:solidFill>
                  <a:srgbClr val="1F5C99"/>
                </a:solidFill>
                <a:latin typeface="Times New Roman"/>
                <a:ea typeface="Times New Roman"/>
                <a:cs typeface="Times New Roman"/>
                <a:sym typeface="Times New Roman"/>
              </a:rPr>
            </a:br>
            <a:r>
              <a:rPr lang="en-US" sz="1600">
                <a:solidFill>
                  <a:srgbClr val="002060"/>
                </a:solidFill>
                <a:latin typeface="Times New Roman"/>
                <a:ea typeface="Times New Roman"/>
                <a:cs typeface="Times New Roman"/>
                <a:sym typeface="Times New Roman"/>
              </a:rPr>
              <a:t> </a:t>
            </a:r>
            <a:endParaRPr/>
          </a:p>
        </p:txBody>
      </p:sp>
      <p:cxnSp>
        <p:nvCxnSpPr>
          <p:cNvPr id="94" name="Google Shape;94;p1"/>
          <p:cNvCxnSpPr/>
          <p:nvPr/>
        </p:nvCxnSpPr>
        <p:spPr>
          <a:xfrm flipH="1">
            <a:off x="6157079" y="1388640"/>
            <a:ext cx="22400" cy="5470800"/>
          </a:xfrm>
          <a:prstGeom prst="straightConnector1">
            <a:avLst/>
          </a:prstGeom>
          <a:noFill/>
          <a:ln cap="flat" cmpd="sng" w="19050">
            <a:solidFill>
              <a:schemeClr val="lt1"/>
            </a:solidFill>
            <a:prstDash val="solid"/>
            <a:round/>
            <a:headEnd len="med" w="med" type="oval"/>
            <a:tailEnd len="med" w="med" type="oval"/>
          </a:ln>
        </p:spPr>
      </p:cxnSp>
      <p:cxnSp>
        <p:nvCxnSpPr>
          <p:cNvPr id="95" name="Google Shape;95;p1"/>
          <p:cNvCxnSpPr/>
          <p:nvPr/>
        </p:nvCxnSpPr>
        <p:spPr>
          <a:xfrm>
            <a:off x="174587" y="3879575"/>
            <a:ext cx="11870800" cy="0"/>
          </a:xfrm>
          <a:prstGeom prst="straightConnector1">
            <a:avLst/>
          </a:prstGeom>
          <a:noFill/>
          <a:ln cap="flat" cmpd="sng" w="19050">
            <a:solidFill>
              <a:schemeClr val="lt1"/>
            </a:solidFill>
            <a:prstDash val="solid"/>
            <a:round/>
            <a:headEnd len="med" w="med" type="oval"/>
            <a:tailEnd len="med" w="med" type="oval"/>
          </a:ln>
        </p:spPr>
      </p:cxnSp>
      <p:sp>
        <p:nvSpPr>
          <p:cNvPr id="96" name="Google Shape;96;p1"/>
          <p:cNvSpPr/>
          <p:nvPr/>
        </p:nvSpPr>
        <p:spPr>
          <a:xfrm>
            <a:off x="525383" y="1092437"/>
            <a:ext cx="5233200" cy="483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133"/>
              <a:buFont typeface="Arial"/>
              <a:buNone/>
            </a:pPr>
            <a:r>
              <a:rPr b="1" i="0" lang="en-US" sz="2133" u="none" cap="none" strike="noStrike">
                <a:solidFill>
                  <a:schemeClr val="lt1"/>
                </a:solidFill>
                <a:latin typeface="Times New Roman"/>
                <a:ea typeface="Times New Roman"/>
                <a:cs typeface="Times New Roman"/>
                <a:sym typeface="Times New Roman"/>
              </a:rPr>
              <a:t>Objective</a:t>
            </a:r>
            <a:endParaRPr b="0" i="0" sz="1867" u="none" cap="none" strike="noStrike">
              <a:solidFill>
                <a:srgbClr val="000000"/>
              </a:solidFill>
              <a:latin typeface="Times New Roman"/>
              <a:ea typeface="Times New Roman"/>
              <a:cs typeface="Times New Roman"/>
              <a:sym typeface="Times New Roman"/>
            </a:endParaRPr>
          </a:p>
        </p:txBody>
      </p:sp>
      <p:sp>
        <p:nvSpPr>
          <p:cNvPr id="97" name="Google Shape;97;p1"/>
          <p:cNvSpPr/>
          <p:nvPr/>
        </p:nvSpPr>
        <p:spPr>
          <a:xfrm>
            <a:off x="6187449" y="1192755"/>
            <a:ext cx="5811400" cy="522967"/>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Key Deliverables in Nov-Dec 2025</a:t>
            </a:r>
            <a:endParaRPr b="0" i="0" sz="2000" u="none" cap="none" strike="noStrike">
              <a:solidFill>
                <a:schemeClr val="lt1"/>
              </a:solidFill>
              <a:latin typeface="Times New Roman"/>
              <a:ea typeface="Times New Roman"/>
              <a:cs typeface="Times New Roman"/>
              <a:sym typeface="Times New Roman"/>
            </a:endParaRPr>
          </a:p>
        </p:txBody>
      </p:sp>
      <p:sp>
        <p:nvSpPr>
          <p:cNvPr id="98" name="Google Shape;98;p1"/>
          <p:cNvSpPr/>
          <p:nvPr/>
        </p:nvSpPr>
        <p:spPr>
          <a:xfrm>
            <a:off x="358776" y="3878704"/>
            <a:ext cx="5558400" cy="483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133"/>
              <a:buFont typeface="Arial"/>
              <a:buNone/>
            </a:pPr>
            <a:r>
              <a:rPr b="1" i="0" lang="en-US" sz="2133" u="none" cap="none" strike="noStrike">
                <a:solidFill>
                  <a:schemeClr val="lt1"/>
                </a:solidFill>
                <a:latin typeface="Times New Roman"/>
                <a:ea typeface="Times New Roman"/>
                <a:cs typeface="Times New Roman"/>
                <a:sym typeface="Times New Roman"/>
              </a:rPr>
              <a:t>Plan for next 2 month</a:t>
            </a:r>
            <a:endParaRPr b="0" i="0" sz="1867" u="none" cap="none" strike="noStrike">
              <a:solidFill>
                <a:srgbClr val="000000"/>
              </a:solidFill>
              <a:latin typeface="Times New Roman"/>
              <a:ea typeface="Times New Roman"/>
              <a:cs typeface="Times New Roman"/>
              <a:sym typeface="Times New Roman"/>
            </a:endParaRPr>
          </a:p>
        </p:txBody>
      </p:sp>
      <p:sp>
        <p:nvSpPr>
          <p:cNvPr id="99" name="Google Shape;99;p1"/>
          <p:cNvSpPr txBox="1"/>
          <p:nvPr>
            <p:ph idx="1" type="body"/>
          </p:nvPr>
        </p:nvSpPr>
        <p:spPr>
          <a:xfrm>
            <a:off x="548150" y="1864650"/>
            <a:ext cx="5639400" cy="1014300"/>
          </a:xfrm>
          <a:prstGeom prst="rect">
            <a:avLst/>
          </a:prstGeom>
          <a:noFill/>
          <a:ln>
            <a:noFill/>
          </a:ln>
        </p:spPr>
        <p:txBody>
          <a:bodyPr anchorCtr="0" anchor="t" bIns="60925" lIns="121900" spcFirstLastPara="1" rIns="121900" wrap="square" tIns="60925">
            <a:noAutofit/>
          </a:bodyPr>
          <a:lstStyle/>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Business Value &amp; Game changers: </a:t>
            </a:r>
            <a:endParaRPr/>
          </a:p>
          <a:p>
            <a:pPr indent="0" lvl="0" marL="0" rtl="0" algn="just">
              <a:lnSpc>
                <a:spcPct val="100000"/>
              </a:lnSpc>
              <a:spcBef>
                <a:spcPts val="0"/>
              </a:spcBef>
              <a:spcAft>
                <a:spcPts val="0"/>
              </a:spcAft>
              <a:buSzPts val="1400"/>
              <a:buNone/>
            </a:pPr>
            <a:r>
              <a:rPr lang="en-US" sz="1300">
                <a:solidFill>
                  <a:schemeClr val="dk1"/>
                </a:solidFill>
                <a:latin typeface="Times New Roman"/>
                <a:ea typeface="Times New Roman"/>
                <a:cs typeface="Times New Roman"/>
                <a:sym typeface="Times New Roman"/>
              </a:rPr>
              <a:t>PRISM is an AI-driven alternate credit assessment platform that automates underwriting using document parsing, behavioral financial analysis, validation pipelines, and explainable risk scoring for faster and smarter borrower evaluation. </a:t>
            </a:r>
            <a:br>
              <a:rPr lang="en-US" sz="1400">
                <a:solidFill>
                  <a:schemeClr val="dk1"/>
                </a:solidFill>
                <a:latin typeface="Times New Roman"/>
                <a:ea typeface="Times New Roman"/>
                <a:cs typeface="Times New Roman"/>
                <a:sym typeface="Times New Roman"/>
              </a:rPr>
            </a:br>
            <a:endParaRPr b="1" sz="1400">
              <a:solidFill>
                <a:srgbClr val="1F5C99"/>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Key Accomplishments |  : April - May 2026 </a:t>
            </a:r>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Developed secure login, consent, and session-management workflow for borrower onboarding.</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Built modular parsers for bank statements, salary slips, and utility bills.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Implemented validation pipeline with confidence scoring and anomaly flagging.</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Engineered financial behavior features including cashflow stability, salary consistency, EMI detection, and utility payment discipline.</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Font typeface="Times New Roman"/>
              <a:buChar char="●"/>
            </a:pPr>
            <a:r>
              <a:rPr lang="en-US" sz="1300">
                <a:solidFill>
                  <a:schemeClr val="dk1"/>
                </a:solidFill>
                <a:latin typeface="Times New Roman"/>
                <a:ea typeface="Times New Roman"/>
                <a:cs typeface="Times New Roman"/>
                <a:sym typeface="Times New Roman"/>
              </a:rPr>
              <a:t>Developed explainable rule-based risk scoring engine with risk tier classification.</a:t>
            </a:r>
            <a:endParaRPr sz="13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rPr b="1" lang="en-US" sz="1400">
                <a:solidFill>
                  <a:srgbClr val="1F5C99"/>
                </a:solidFill>
                <a:latin typeface="Times New Roman"/>
                <a:ea typeface="Times New Roman"/>
                <a:cs typeface="Times New Roman"/>
                <a:sym typeface="Times New Roman"/>
              </a:rPr>
              <a:t>Reusable Assets/Solutions/Opportunities:</a:t>
            </a:r>
            <a:r>
              <a:rPr b="1" lang="en-US" sz="1300">
                <a:solidFill>
                  <a:srgbClr val="1F5C99"/>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Strong foundation for future ML-based credit scoring, fraud analytics, and explainable AI systems. </a:t>
            </a:r>
            <a:endParaRPr sz="1300">
              <a:latin typeface="Times New Roman"/>
              <a:ea typeface="Times New Roman"/>
              <a:cs typeface="Times New Roman"/>
              <a:sym typeface="Times New Roman"/>
            </a:endParaRPr>
          </a:p>
          <a:p>
            <a:pPr indent="0" lvl="0" marL="0" rtl="0" algn="just">
              <a:lnSpc>
                <a:spcPct val="100000"/>
              </a:lnSpc>
              <a:spcBef>
                <a:spcPts val="0"/>
              </a:spcBef>
              <a:spcAft>
                <a:spcPts val="0"/>
              </a:spcAft>
              <a:buSzPts val="1200"/>
              <a:buNone/>
            </a:pPr>
            <a:r>
              <a:t/>
            </a:r>
            <a:endParaRPr sz="1400">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Upcoming Milestone: </a:t>
            </a:r>
            <a:r>
              <a:rPr lang="en-US" sz="1400">
                <a:solidFill>
                  <a:schemeClr val="dk1"/>
                </a:solidFill>
                <a:latin typeface="Times New Roman"/>
                <a:ea typeface="Times New Roman"/>
                <a:cs typeface="Times New Roman"/>
                <a:sym typeface="Times New Roman"/>
              </a:rPr>
              <a:t>Implement ML-based risk scoring and fraud detection models and introduce confidence-weighted underwriting decisions.</a:t>
            </a:r>
            <a:endParaRPr sz="1400">
              <a:solidFill>
                <a:schemeClr val="dk1"/>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t/>
            </a:r>
            <a:endParaRPr b="1"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400"/>
              <a:buNone/>
            </a:pPr>
            <a:r>
              <a:t/>
            </a:r>
            <a:endParaRPr sz="13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400"/>
              <a:buNone/>
            </a:pPr>
            <a:r>
              <a:t/>
            </a:r>
            <a:endParaRPr b="1" sz="12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t/>
            </a:r>
            <a:endParaRPr b="1" sz="1400">
              <a:solidFill>
                <a:srgbClr val="1F5C99"/>
              </a:solidFill>
              <a:latin typeface="Times New Roman"/>
              <a:ea typeface="Times New Roman"/>
              <a:cs typeface="Times New Roman"/>
              <a:sym typeface="Times New Roman"/>
            </a:endParaRPr>
          </a:p>
        </p:txBody>
      </p:sp>
      <p:sp>
        <p:nvSpPr>
          <p:cNvPr id="100" name="Google Shape;100;p1"/>
          <p:cNvSpPr txBox="1"/>
          <p:nvPr/>
        </p:nvSpPr>
        <p:spPr>
          <a:xfrm>
            <a:off x="-538375" y="205268"/>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Domain: </a:t>
            </a:r>
            <a:r>
              <a:rPr b="1" i="0" lang="en-US" sz="1600" u="none" cap="none" strike="noStrike">
                <a:solidFill>
                  <a:schemeClr val="dk1"/>
                </a:solidFill>
                <a:latin typeface="Times New Roman"/>
                <a:ea typeface="Times New Roman"/>
                <a:cs typeface="Times New Roman"/>
                <a:sym typeface="Times New Roman"/>
              </a:rPr>
              <a:t>Insurance/Fintech || </a:t>
            </a:r>
            <a:r>
              <a:rPr b="1" i="0" lang="en-US" sz="1600" u="none" cap="none" strike="noStrike">
                <a:solidFill>
                  <a:srgbClr val="1F5C99"/>
                </a:solidFill>
                <a:latin typeface="Times New Roman"/>
                <a:ea typeface="Times New Roman"/>
                <a:cs typeface="Times New Roman"/>
                <a:sym typeface="Times New Roman"/>
              </a:rPr>
              <a:t>Team: </a:t>
            </a:r>
            <a:r>
              <a:rPr b="1" i="0" lang="en-US" sz="1600" u="none" cap="none" strike="noStrike">
                <a:solidFill>
                  <a:schemeClr val="dk1"/>
                </a:solidFill>
                <a:latin typeface="Times New Roman"/>
                <a:ea typeface="Times New Roman"/>
                <a:cs typeface="Times New Roman"/>
                <a:sym typeface="Times New Roman"/>
              </a:rPr>
              <a:t>Hazel Sequeira, Freia Quadros</a:t>
            </a:r>
            <a:endParaRPr b="1" i="0" sz="1600" u="none" cap="none" strike="noStrike">
              <a:solidFill>
                <a:srgbClr val="000000"/>
              </a:solidFill>
              <a:latin typeface="Times New Roman"/>
              <a:ea typeface="Times New Roman"/>
              <a:cs typeface="Times New Roman"/>
              <a:sym typeface="Times New Roman"/>
            </a:endParaRPr>
          </a:p>
        </p:txBody>
      </p:sp>
      <p:pic>
        <p:nvPicPr>
          <p:cNvPr descr="A red and white target with a yellow arrow&#10;&#10;AI-generated content may be incorrect." id="101" name="Google Shape;101;p1"/>
          <p:cNvPicPr preferRelativeResize="0"/>
          <p:nvPr/>
        </p:nvPicPr>
        <p:blipFill rotWithShape="1">
          <a:blip r:embed="rId3">
            <a:alphaModFix/>
          </a:blip>
          <a:srcRect b="0" l="0" r="0" t="0"/>
          <a:stretch/>
        </p:blipFill>
        <p:spPr>
          <a:xfrm>
            <a:off x="70378" y="1136037"/>
            <a:ext cx="396000" cy="396000"/>
          </a:xfrm>
          <a:prstGeom prst="rect">
            <a:avLst/>
          </a:prstGeom>
          <a:noFill/>
          <a:ln>
            <a:noFill/>
          </a:ln>
        </p:spPr>
      </p:pic>
      <p:pic>
        <p:nvPicPr>
          <p:cNvPr descr="A group of people with arms up and a star above them&#10;&#10;AI-generated content may be incorrect." id="102" name="Google Shape;102;p1"/>
          <p:cNvPicPr preferRelativeResize="0"/>
          <p:nvPr/>
        </p:nvPicPr>
        <p:blipFill rotWithShape="1">
          <a:blip r:embed="rId4">
            <a:alphaModFix/>
          </a:blip>
          <a:srcRect b="0" l="0" r="0" t="0"/>
          <a:stretch/>
        </p:blipFill>
        <p:spPr>
          <a:xfrm>
            <a:off x="138801" y="3180832"/>
            <a:ext cx="396000" cy="396000"/>
          </a:xfrm>
          <a:prstGeom prst="rect">
            <a:avLst/>
          </a:prstGeom>
          <a:noFill/>
          <a:ln>
            <a:noFill/>
          </a:ln>
        </p:spPr>
      </p:pic>
      <p:pic>
        <p:nvPicPr>
          <p:cNvPr descr="A handshake with a tick and a white cloud&#10;&#10;AI-generated content may be incorrect." id="103" name="Google Shape;103;p1"/>
          <p:cNvPicPr preferRelativeResize="0"/>
          <p:nvPr/>
        </p:nvPicPr>
        <p:blipFill rotWithShape="1">
          <a:blip r:embed="rId5">
            <a:alphaModFix/>
          </a:blip>
          <a:srcRect b="0" l="0" r="0" t="0"/>
          <a:stretch/>
        </p:blipFill>
        <p:spPr>
          <a:xfrm>
            <a:off x="6458854" y="2060295"/>
            <a:ext cx="396000" cy="396000"/>
          </a:xfrm>
          <a:prstGeom prst="rect">
            <a:avLst/>
          </a:prstGeom>
          <a:noFill/>
          <a:ln>
            <a:noFill/>
          </a:ln>
        </p:spPr>
      </p:pic>
      <p:pic>
        <p:nvPicPr>
          <p:cNvPr descr="A person holding a paper plane&#10;&#10;AI-generated content may be incorrect." id="104" name="Google Shape;104;p1"/>
          <p:cNvPicPr preferRelativeResize="0"/>
          <p:nvPr/>
        </p:nvPicPr>
        <p:blipFill rotWithShape="1">
          <a:blip r:embed="rId6">
            <a:alphaModFix/>
          </a:blip>
          <a:srcRect b="0" l="0" r="0" t="0"/>
          <a:stretch/>
        </p:blipFill>
        <p:spPr>
          <a:xfrm>
            <a:off x="6458854" y="3411820"/>
            <a:ext cx="396000" cy="396000"/>
          </a:xfrm>
          <a:prstGeom prst="rect">
            <a:avLst/>
          </a:prstGeom>
          <a:noFill/>
          <a:ln>
            <a:noFill/>
          </a:ln>
        </p:spPr>
      </p:pic>
      <p:sp>
        <p:nvSpPr>
          <p:cNvPr id="105" name="Google Shape;105;p1"/>
          <p:cNvSpPr txBox="1"/>
          <p:nvPr/>
        </p:nvSpPr>
        <p:spPr>
          <a:xfrm>
            <a:off x="7159257" y="1864658"/>
            <a:ext cx="4886100" cy="41211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rPr b="1" i="0" lang="en-US" sz="1300" u="none" cap="none" strike="noStrike">
                <a:solidFill>
                  <a:srgbClr val="1F5C99"/>
                </a:solidFill>
                <a:latin typeface="Times New Roman"/>
                <a:ea typeface="Times New Roman"/>
                <a:cs typeface="Times New Roman"/>
                <a:sym typeface="Times New Roman"/>
              </a:rPr>
              <a:t>Planned Deliverables (Next one Months):</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n-US" sz="1300">
                <a:latin typeface="Times New Roman"/>
                <a:ea typeface="Times New Roman"/>
                <a:cs typeface="Times New Roman"/>
                <a:sym typeface="Times New Roman"/>
              </a:rPr>
              <a:t>Stabilize the document parsing and feature extraction pipeline across multiple financial document formats.</a:t>
            </a:r>
            <a:endParaRPr sz="13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sz="1300">
                <a:latin typeface="Times New Roman"/>
                <a:ea typeface="Times New Roman"/>
                <a:cs typeface="Times New Roman"/>
                <a:sym typeface="Times New Roman"/>
              </a:rPr>
              <a:t>Expand synthetic dataset generation, improve validation checks, and integrate structured feature outputs with downstream scoring and fraud modules.</a:t>
            </a:r>
            <a:endParaRPr sz="13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1" i="0" sz="13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300" u="none" cap="none" strike="noStrike">
                <a:solidFill>
                  <a:srgbClr val="1F5C99"/>
                </a:solidFill>
                <a:latin typeface="Times New Roman"/>
                <a:ea typeface="Times New Roman"/>
                <a:cs typeface="Times New Roman"/>
                <a:sym typeface="Times New Roman"/>
              </a:rPr>
              <a:t>Risks &amp; Challenges:</a:t>
            </a:r>
            <a:endParaRPr b="1" i="0" sz="13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sz="1300">
                <a:solidFill>
                  <a:srgbClr val="FF6D6D"/>
                </a:solidFill>
                <a:latin typeface="Times New Roman"/>
                <a:ea typeface="Times New Roman"/>
                <a:cs typeface="Times New Roman"/>
                <a:sym typeface="Times New Roman"/>
              </a:rPr>
              <a:t>High variation in real-world document layouts, OCR quality, and semi-structured formats may affect extraction consistency.</a:t>
            </a:r>
            <a:endParaRPr sz="1300">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sz="1300">
                <a:solidFill>
                  <a:srgbClr val="FF6D6D"/>
                </a:solidFill>
                <a:latin typeface="Times New Roman"/>
                <a:ea typeface="Times New Roman"/>
                <a:cs typeface="Times New Roman"/>
                <a:sym typeface="Times New Roman"/>
              </a:rPr>
              <a:t>Limited access to large-scale real financial datasets remains a challenge for robust validation and behavioural analysis.</a:t>
            </a:r>
            <a:endParaRPr sz="1300">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300">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300" u="none" cap="none" strike="noStrike">
                <a:solidFill>
                  <a:srgbClr val="1F5C99"/>
                </a:solidFill>
                <a:latin typeface="Times New Roman"/>
                <a:ea typeface="Times New Roman"/>
                <a:cs typeface="Times New Roman"/>
                <a:sym typeface="Times New Roman"/>
              </a:rPr>
              <a:t>Feedback &amp; improvements: </a:t>
            </a:r>
            <a:endParaRPr b="0" i="0" sz="13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sz="1300">
                <a:latin typeface="Times New Roman"/>
                <a:ea typeface="Times New Roman"/>
                <a:cs typeface="Times New Roman"/>
                <a:sym typeface="Times New Roman"/>
              </a:rPr>
              <a:t>Suggested improvements include strengthening parser robustness for noisy/scanned documents, improving behavioural feature engineering depth, and expanding edge-case synthetic testing for better fraud and risk analysis reliability.</a:t>
            </a:r>
            <a:endParaRPr b="0" i="0" sz="1300" u="none" cap="none" strike="noStrike">
              <a:solidFill>
                <a:srgbClr val="000000"/>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300" u="none" cap="none" strike="noStrike">
              <a:solidFill>
                <a:srgbClr val="000000"/>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300" u="none" cap="none" strike="noStrike">
              <a:solidFill>
                <a:srgbClr val="000000"/>
              </a:solidFill>
              <a:latin typeface="Times New Roman"/>
              <a:ea typeface="Times New Roman"/>
              <a:cs typeface="Times New Roman"/>
              <a:sym typeface="Times New Roman"/>
            </a:endParaRPr>
          </a:p>
        </p:txBody>
      </p:sp>
      <p:pic>
        <p:nvPicPr>
          <p:cNvPr descr="A clipboard with a graph on it&#10;&#10;AI-generated content may be incorrect." id="106" name="Google Shape;106;p1"/>
          <p:cNvPicPr preferRelativeResize="0"/>
          <p:nvPr/>
        </p:nvPicPr>
        <p:blipFill rotWithShape="1">
          <a:blip r:embed="rId7">
            <a:alphaModFix/>
          </a:blip>
          <a:srcRect b="0" l="0" r="0" t="0"/>
          <a:stretch/>
        </p:blipFill>
        <p:spPr>
          <a:xfrm>
            <a:off x="138793" y="2075762"/>
            <a:ext cx="396000" cy="396000"/>
          </a:xfrm>
          <a:prstGeom prst="rect">
            <a:avLst/>
          </a:prstGeom>
          <a:noFill/>
          <a:ln>
            <a:noFill/>
          </a:ln>
        </p:spPr>
      </p:pic>
      <p:pic>
        <p:nvPicPr>
          <p:cNvPr descr="A couple of people sitting at a table&#10;&#10;AI-generated content may be incorrect." id="107" name="Google Shape;107;p1"/>
          <p:cNvPicPr preferRelativeResize="0"/>
          <p:nvPr/>
        </p:nvPicPr>
        <p:blipFill rotWithShape="1">
          <a:blip r:embed="rId8">
            <a:alphaModFix/>
          </a:blip>
          <a:srcRect b="0" l="0" r="0" t="0"/>
          <a:stretch/>
        </p:blipFill>
        <p:spPr>
          <a:xfrm>
            <a:off x="6458854" y="4444430"/>
            <a:ext cx="396000" cy="396000"/>
          </a:xfrm>
          <a:prstGeom prst="rect">
            <a:avLst/>
          </a:prstGeom>
          <a:noFill/>
          <a:ln>
            <a:noFill/>
          </a:ln>
        </p:spPr>
      </p:pic>
      <p:sp>
        <p:nvSpPr>
          <p:cNvPr id="108" name="Google Shape;108;p1"/>
          <p:cNvSpPr txBox="1"/>
          <p:nvPr/>
        </p:nvSpPr>
        <p:spPr>
          <a:xfrm>
            <a:off x="471875" y="917949"/>
            <a:ext cx="113928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Milestone Objective: </a:t>
            </a:r>
            <a:r>
              <a:rPr b="0" i="0" lang="en-US" sz="1600" u="none" cap="none" strike="noStrike">
                <a:solidFill>
                  <a:schemeClr val="dk1"/>
                </a:solidFill>
                <a:latin typeface="Times New Roman"/>
                <a:ea typeface="Times New Roman"/>
                <a:cs typeface="Times New Roman"/>
                <a:sym typeface="Times New Roman"/>
              </a:rPr>
              <a:t>PRISM delivers an integrated credit intelligence platform that validates documents, detects fraud, and generates explainable risk scores, addressing trust and reliability gaps in digital lending. It benefits lenders by improving decision confidence and borrowers by enabling fairer credit access.</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p:txBody>
      </p:sp>
      <p:cxnSp>
        <p:nvCxnSpPr>
          <p:cNvPr id="109" name="Google Shape;109;p1"/>
          <p:cNvCxnSpPr/>
          <p:nvPr/>
        </p:nvCxnSpPr>
        <p:spPr>
          <a:xfrm>
            <a:off x="405314" y="890820"/>
            <a:ext cx="11640073" cy="0"/>
          </a:xfrm>
          <a:prstGeom prst="straightConnector1">
            <a:avLst/>
          </a:prstGeom>
          <a:noFill/>
          <a:ln cap="flat" cmpd="sng" w="19050">
            <a:solidFill>
              <a:schemeClr val="dk1"/>
            </a:solidFill>
            <a:prstDash val="solid"/>
            <a:miter lim="800000"/>
            <a:headEnd len="sm" w="sm" type="none"/>
            <a:tailEnd len="sm" w="sm" type="none"/>
          </a:ln>
        </p:spPr>
      </p:cxnSp>
      <p:pic>
        <p:nvPicPr>
          <p:cNvPr id="110" name="Google Shape;110;p1"/>
          <p:cNvPicPr preferRelativeResize="0"/>
          <p:nvPr/>
        </p:nvPicPr>
        <p:blipFill rotWithShape="1">
          <a:blip r:embed="rId9">
            <a:alphaModFix/>
          </a:blip>
          <a:srcRect b="0" l="0" r="0" t="0"/>
          <a:stretch/>
        </p:blipFill>
        <p:spPr>
          <a:xfrm>
            <a:off x="138792" y="5544517"/>
            <a:ext cx="396000" cy="396000"/>
          </a:xfrm>
          <a:prstGeom prst="rect">
            <a:avLst/>
          </a:prstGeom>
          <a:noFill/>
          <a:ln>
            <a:noFill/>
          </a:ln>
        </p:spPr>
      </p:pic>
      <p:pic>
        <p:nvPicPr>
          <p:cNvPr id="111" name="Google Shape;111;p1"/>
          <p:cNvPicPr preferRelativeResize="0"/>
          <p:nvPr/>
        </p:nvPicPr>
        <p:blipFill rotWithShape="1">
          <a:blip r:embed="rId10">
            <a:alphaModFix/>
          </a:blip>
          <a:srcRect b="0" l="0" r="0" t="0"/>
          <a:stretch/>
        </p:blipFill>
        <p:spPr>
          <a:xfrm>
            <a:off x="6448129" y="5544534"/>
            <a:ext cx="396000" cy="396000"/>
          </a:xfrm>
          <a:prstGeom prst="rect">
            <a:avLst/>
          </a:prstGeom>
          <a:noFill/>
          <a:ln>
            <a:noFill/>
          </a:ln>
        </p:spPr>
      </p:pic>
      <p:sp>
        <p:nvSpPr>
          <p:cNvPr id="112" name="Google Shape;112;p1"/>
          <p:cNvSpPr txBox="1"/>
          <p:nvPr/>
        </p:nvSpPr>
        <p:spPr>
          <a:xfrm>
            <a:off x="7123531" y="6134647"/>
            <a:ext cx="42324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Demo Links</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13" name="Google Shape;113;p1"/>
          <p:cNvPicPr preferRelativeResize="0"/>
          <p:nvPr/>
        </p:nvPicPr>
        <p:blipFill rotWithShape="1">
          <a:blip r:embed="rId11">
            <a:alphaModFix/>
          </a:blip>
          <a:srcRect b="0" l="0" r="0" t="0"/>
          <a:stretch/>
        </p:blipFill>
        <p:spPr>
          <a:xfrm>
            <a:off x="6453501" y="6249161"/>
            <a:ext cx="396000" cy="396000"/>
          </a:xfrm>
          <a:prstGeom prst="rect">
            <a:avLst/>
          </a:prstGeom>
          <a:noFill/>
          <a:ln>
            <a:noFill/>
          </a:ln>
        </p:spPr>
      </p:pic>
      <p:sp>
        <p:nvSpPr>
          <p:cNvPr id="114" name="Google Shape;114;p1"/>
          <p:cNvSpPr txBox="1"/>
          <p:nvPr/>
        </p:nvSpPr>
        <p:spPr>
          <a:xfrm>
            <a:off x="7104700" y="5641325"/>
            <a:ext cx="49407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GithubLinks</a:t>
            </a:r>
            <a:r>
              <a:rPr b="0" i="0" lang="en-US" sz="1400" u="none" cap="none" strike="noStrike">
                <a:solidFill>
                  <a:srgbClr val="000000"/>
                </a:solidFill>
                <a:latin typeface="Times New Roman"/>
                <a:ea typeface="Times New Roman"/>
                <a:cs typeface="Times New Roman"/>
                <a:sym typeface="Times New Roman"/>
              </a:rPr>
              <a:t>:  </a:t>
            </a:r>
            <a:r>
              <a:rPr b="0" i="0" lang="en-US" sz="1400" u="sng" cap="none" strike="noStrike">
                <a:solidFill>
                  <a:schemeClr val="hlink"/>
                </a:solidFill>
                <a:latin typeface="Times New Roman"/>
                <a:ea typeface="Times New Roman"/>
                <a:cs typeface="Times New Roman"/>
                <a:sym typeface="Times New Roman"/>
                <a:hlinkClick r:id="rId12"/>
              </a:rPr>
              <a:t>https://github.com/thecamouflagedgeek/PRISM.git</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b="0" i="0" lang="en-US" sz="1200" u="sng" cap="none" strike="noStrike">
                <a:solidFill>
                  <a:schemeClr val="hlink"/>
                </a:solidFill>
                <a:latin typeface="Times New Roman"/>
                <a:ea typeface="Times New Roman"/>
                <a:cs typeface="Times New Roman"/>
                <a:sym typeface="Times New Roman"/>
                <a:hlinkClick r:id="rId13"/>
              </a:rPr>
              <a:t>https://prism-backend-4mfu.onrender.com/</a:t>
            </a:r>
            <a:endParaRPr b="0" i="0" sz="12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b="0" i="0" lang="en-US" sz="1000" u="sng" cap="none" strike="noStrike">
                <a:solidFill>
                  <a:schemeClr val="hlink"/>
                </a:solidFill>
                <a:latin typeface="Times New Roman"/>
                <a:ea typeface="Times New Roman"/>
                <a:cs typeface="Times New Roman"/>
                <a:sym typeface="Times New Roman"/>
                <a:hlinkClick r:id="rId14"/>
              </a:rPr>
              <a:t>https://drive.google.com/drive/folders/1Bp1R5hF3XBrDEYBXEWciUBfmwXX_oJC9</a:t>
            </a:r>
            <a:r>
              <a:rPr b="0" i="0" lang="en-US" sz="1000" u="none" cap="none" strike="noStrike">
                <a:solidFill>
                  <a:srgbClr val="000000"/>
                </a:solidFill>
                <a:latin typeface="Times New Roman"/>
                <a:ea typeface="Times New Roman"/>
                <a:cs typeface="Times New Roman"/>
                <a:sym typeface="Times New Roman"/>
              </a:rPr>
              <a:t> </a:t>
            </a:r>
            <a:endParaRPr b="0" i="0" sz="10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15" name="Google Shape;115;p1"/>
          <p:cNvPicPr preferRelativeResize="0"/>
          <p:nvPr/>
        </p:nvPicPr>
        <p:blipFill rotWithShape="1">
          <a:blip r:embed="rId15">
            <a:alphaModFix/>
          </a:blip>
          <a:srcRect b="0" l="0" r="0" t="0"/>
          <a:stretch/>
        </p:blipFill>
        <p:spPr>
          <a:xfrm>
            <a:off x="138793" y="6245345"/>
            <a:ext cx="396000" cy="396000"/>
          </a:xfrm>
          <a:prstGeom prst="rect">
            <a:avLst/>
          </a:prstGeom>
          <a:noFill/>
          <a:ln>
            <a:noFill/>
          </a:ln>
        </p:spPr>
      </p:pic>
      <p:sp>
        <p:nvSpPr>
          <p:cNvPr id="116" name="Google Shape;116;p1"/>
          <p:cNvSpPr txBox="1"/>
          <p:nvPr/>
        </p:nvSpPr>
        <p:spPr>
          <a:xfrm>
            <a:off x="0" y="477912"/>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Starting TRL: </a:t>
            </a:r>
            <a:r>
              <a:rPr b="1" i="0" lang="en-US" sz="1600" u="none" cap="none" strike="noStrike">
                <a:solidFill>
                  <a:srgbClr val="3F3F3F"/>
                </a:solidFill>
                <a:latin typeface="Times New Roman"/>
                <a:ea typeface="Times New Roman"/>
                <a:cs typeface="Times New Roman"/>
                <a:sym typeface="Times New Roman"/>
              </a:rPr>
              <a:t>(March - TRL 3)</a:t>
            </a:r>
            <a:r>
              <a:rPr b="1" i="0" lang="en-US" sz="1600" u="none" cap="none" strike="noStrike">
                <a:solidFill>
                  <a:schemeClr val="dk1"/>
                </a:solidFill>
                <a:latin typeface="Times New Roman"/>
                <a:ea typeface="Times New Roman"/>
                <a:cs typeface="Times New Roman"/>
                <a:sym typeface="Times New Roman"/>
              </a:rPr>
              <a:t> || </a:t>
            </a:r>
            <a:r>
              <a:rPr b="1" i="0" lang="en-US" sz="1600" u="none" cap="none" strike="noStrike">
                <a:solidFill>
                  <a:srgbClr val="1F5C99"/>
                </a:solidFill>
                <a:latin typeface="Times New Roman"/>
                <a:ea typeface="Times New Roman"/>
                <a:cs typeface="Times New Roman"/>
                <a:sym typeface="Times New Roman"/>
              </a:rPr>
              <a:t>Current TRL: </a:t>
            </a:r>
            <a:r>
              <a:rPr b="1" i="0" lang="en-US" sz="1600" u="none" cap="none" strike="noStrike">
                <a:solidFill>
                  <a:schemeClr val="dk1"/>
                </a:solidFill>
                <a:latin typeface="Times New Roman"/>
                <a:ea typeface="Times New Roman"/>
                <a:cs typeface="Times New Roman"/>
                <a:sym typeface="Times New Roman"/>
              </a:rPr>
              <a:t>3 || </a:t>
            </a:r>
            <a:r>
              <a:rPr b="1" i="0" lang="en-US" sz="1600" u="none" cap="none" strike="noStrike">
                <a:solidFill>
                  <a:srgbClr val="1F5C99"/>
                </a:solidFill>
                <a:latin typeface="Times New Roman"/>
                <a:ea typeface="Times New Roman"/>
                <a:cs typeface="Times New Roman"/>
                <a:sym typeface="Times New Roman"/>
              </a:rPr>
              <a:t>Target TRL: </a:t>
            </a:r>
            <a:r>
              <a:rPr b="1" i="0" lang="en-US" sz="1600" u="none" cap="none" strike="noStrike">
                <a:solidFill>
                  <a:schemeClr val="dk1"/>
                </a:solidFill>
                <a:latin typeface="Times New Roman"/>
                <a:ea typeface="Times New Roman"/>
                <a:cs typeface="Times New Roman"/>
                <a:sym typeface="Times New Roman"/>
              </a:rPr>
              <a:t>4 </a:t>
            </a:r>
            <a:r>
              <a:rPr b="1" i="0" lang="en-US" sz="1600" u="none" cap="none" strike="noStrike">
                <a:solidFill>
                  <a:srgbClr val="3F3F3F"/>
                </a:solidFill>
                <a:latin typeface="Times New Roman"/>
                <a:ea typeface="Times New Roman"/>
                <a:cs typeface="Times New Roman"/>
                <a:sym typeface="Times New Roman"/>
              </a:rPr>
              <a:t>(December-2026)</a:t>
            </a:r>
            <a:r>
              <a:rPr b="1" i="0" lang="en-US" sz="1600" u="none" cap="none" strike="noStrike">
                <a:solidFill>
                  <a:schemeClr val="dk1"/>
                </a:solidFill>
                <a:latin typeface="Times New Roman"/>
                <a:ea typeface="Times New Roman"/>
                <a:cs typeface="Times New Roman"/>
                <a:sym typeface="Times New Roman"/>
              </a:rPr>
              <a:t> || </a:t>
            </a:r>
            <a:r>
              <a:rPr b="1" i="0" lang="en-US" sz="1600" u="none" cap="none" strike="noStrike">
                <a:solidFill>
                  <a:srgbClr val="1F5C99"/>
                </a:solidFill>
                <a:latin typeface="Times New Roman"/>
                <a:ea typeface="Times New Roman"/>
                <a:cs typeface="Times New Roman"/>
                <a:sym typeface="Times New Roman"/>
              </a:rPr>
              <a:t>Overall Project Status: </a:t>
            </a:r>
            <a:endParaRPr b="1" i="0" sz="1600" u="none" cap="none" strike="noStrike">
              <a:solidFill>
                <a:srgbClr val="000000"/>
              </a:solidFill>
              <a:latin typeface="Times New Roman"/>
              <a:ea typeface="Times New Roman"/>
              <a:cs typeface="Times New Roman"/>
              <a:sym typeface="Times New Roman"/>
            </a:endParaRPr>
          </a:p>
        </p:txBody>
      </p:sp>
      <p:cxnSp>
        <p:nvCxnSpPr>
          <p:cNvPr id="117" name="Google Shape;117;p1"/>
          <p:cNvCxnSpPr/>
          <p:nvPr/>
        </p:nvCxnSpPr>
        <p:spPr>
          <a:xfrm>
            <a:off x="495727" y="1817920"/>
            <a:ext cx="11640000" cy="0"/>
          </a:xfrm>
          <a:prstGeom prst="straightConnector1">
            <a:avLst/>
          </a:prstGeom>
          <a:noFill/>
          <a:ln cap="flat" cmpd="sng" w="19050">
            <a:solidFill>
              <a:schemeClr val="dk1"/>
            </a:solidFill>
            <a:prstDash val="solid"/>
            <a:miter lim="800000"/>
            <a:headEnd len="sm" w="sm" type="none"/>
            <a:tailEnd len="sm" w="sm" type="none"/>
          </a:ln>
        </p:spPr>
      </p:cxnSp>
      <p:sp>
        <p:nvSpPr>
          <p:cNvPr id="118" name="Google Shape;118;p1"/>
          <p:cNvSpPr/>
          <p:nvPr/>
        </p:nvSpPr>
        <p:spPr>
          <a:xfrm>
            <a:off x="10973826" y="564185"/>
            <a:ext cx="252900" cy="239700"/>
          </a:xfrm>
          <a:prstGeom prst="ellipse">
            <a:avLst/>
          </a:prstGeom>
          <a:solidFill>
            <a:srgbClr val="B3E5A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2026-01-12T08:43:54Z</dcterms:created>
  <dc:creator>Gaurav Seshan</dc:creator>
</cp:coreProperties>
</file>