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Lst>
  <p:sldSz cy="6858000" cx="12192000"/>
  <p:notesSz cx="6858000" cy="9144000"/>
  <p:embeddedFontLst>
    <p:embeddedFont>
      <p:font typeface="Play"/>
      <p:regular r:id="rId6"/>
      <p:bold r:id="rId7"/>
    </p:embeddedFont>
    <p:embeddedFont>
      <p:font typeface="Montserrat"/>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2" roundtripDataSignature="AMtx7mjMgTYWI1NVN1/3HJF65uRMQO4a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Montserrat-boldItalic.fntdata"/><Relationship Id="rId10" Type="http://schemas.openxmlformats.org/officeDocument/2006/relationships/font" Target="fonts/Montserrat-italic.fntdata"/><Relationship Id="rId12"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Montserrat-bold.fntdata"/><Relationship Id="rId5" Type="http://schemas.openxmlformats.org/officeDocument/2006/relationships/slide" Target="slides/slide1.xml"/><Relationship Id="rId6" Type="http://schemas.openxmlformats.org/officeDocument/2006/relationships/font" Target="fonts/Play-regular.fntdata"/><Relationship Id="rId7" Type="http://schemas.openxmlformats.org/officeDocument/2006/relationships/font" Target="fonts/Play-bold.fntdata"/><Relationship Id="rId8" Type="http://schemas.openxmlformats.org/officeDocument/2006/relationships/font" Target="fonts/Montserra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91" name="Google Shape;9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 name="Shape 16"/>
        <p:cNvGrpSpPr/>
        <p:nvPr/>
      </p:nvGrpSpPr>
      <p:grpSpPr>
        <a:xfrm>
          <a:off x="0" y="0"/>
          <a:ext cx="0" cy="0"/>
          <a:chOff x="0" y="0"/>
          <a:chExt cx="0" cy="0"/>
        </a:xfrm>
      </p:grpSpPr>
      <p:sp>
        <p:nvSpPr>
          <p:cNvPr id="17" name="Google Shape;17;p3"/>
          <p:cNvSpPr/>
          <p:nvPr/>
        </p:nvSpPr>
        <p:spPr>
          <a:xfrm>
            <a:off x="12638620" y="690565"/>
            <a:ext cx="92389" cy="415444"/>
          </a:xfrm>
          <a:prstGeom prst="rect">
            <a:avLst/>
          </a:prstGeom>
          <a:noFill/>
          <a:ln>
            <a:noFill/>
          </a:ln>
        </p:spPr>
        <p:txBody>
          <a:bodyPr anchorCtr="0" anchor="t" bIns="22825" lIns="45700" spcFirstLastPara="1" rIns="45700" wrap="square" tIns="228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2400" u="none" cap="none" strike="noStrike">
              <a:solidFill>
                <a:srgbClr val="000000"/>
              </a:solidFill>
              <a:latin typeface="Arial"/>
              <a:ea typeface="Arial"/>
              <a:cs typeface="Arial"/>
              <a:sym typeface="Arial"/>
            </a:endParaRPr>
          </a:p>
        </p:txBody>
      </p:sp>
      <p:sp>
        <p:nvSpPr>
          <p:cNvPr id="18" name="Google Shape;18;p3"/>
          <p:cNvSpPr txBox="1"/>
          <p:nvPr>
            <p:ph idx="1" type="body"/>
          </p:nvPr>
        </p:nvSpPr>
        <p:spPr>
          <a:xfrm>
            <a:off x="438151" y="960439"/>
            <a:ext cx="10671175" cy="4854575"/>
          </a:xfrm>
          <a:prstGeom prst="rect">
            <a:avLst/>
          </a:prstGeom>
          <a:noFill/>
          <a:ln>
            <a:noFill/>
          </a:ln>
        </p:spPr>
        <p:txBody>
          <a:bodyPr anchorCtr="0" anchor="t" bIns="45700" lIns="91425" spcFirstLastPara="1" rIns="91425" wrap="square" tIns="45700">
            <a:noAutofit/>
          </a:bodyPr>
          <a:lstStyle>
            <a:lvl1pPr indent="-317500" lvl="0" marL="457200" marR="0" algn="l">
              <a:lnSpc>
                <a:spcPct val="100000"/>
              </a:lnSpc>
              <a:spcBef>
                <a:spcPts val="0"/>
              </a:spcBef>
              <a:spcAft>
                <a:spcPts val="0"/>
              </a:spcAft>
              <a:buClr>
                <a:srgbClr val="000000"/>
              </a:buClr>
              <a:buSzPts val="1400"/>
              <a:buFont typeface="Arial"/>
              <a:buChar char="•"/>
              <a:defRPr b="0" i="0" sz="1867" u="none" cap="none" strike="noStrike">
                <a:solidFill>
                  <a:srgbClr val="000000"/>
                </a:solidFill>
                <a:latin typeface="Arial"/>
                <a:ea typeface="Arial"/>
                <a:cs typeface="Arial"/>
                <a:sym typeface="Arial"/>
              </a:defRPr>
            </a:lvl1pPr>
            <a:lvl2pPr indent="-317500" lvl="1" marL="914400" marR="0" algn="l">
              <a:lnSpc>
                <a:spcPct val="100000"/>
              </a:lnSpc>
              <a:spcBef>
                <a:spcPts val="0"/>
              </a:spcBef>
              <a:spcAft>
                <a:spcPts val="0"/>
              </a:spcAft>
              <a:buClr>
                <a:srgbClr val="000000"/>
              </a:buClr>
              <a:buSzPts val="1400"/>
              <a:buFont typeface="Arial"/>
              <a:buChar char="•"/>
              <a:defRPr b="0" i="0" sz="1867" u="none" cap="none" strike="noStrike">
                <a:solidFill>
                  <a:srgbClr val="000000"/>
                </a:solidFill>
                <a:latin typeface="Arial"/>
                <a:ea typeface="Arial"/>
                <a:cs typeface="Arial"/>
                <a:sym typeface="Arial"/>
              </a:defRPr>
            </a:lvl2pPr>
            <a:lvl3pPr indent="-317500" lvl="2" marL="1371600" marR="0" algn="l">
              <a:lnSpc>
                <a:spcPct val="100000"/>
              </a:lnSpc>
              <a:spcBef>
                <a:spcPts val="0"/>
              </a:spcBef>
              <a:spcAft>
                <a:spcPts val="0"/>
              </a:spcAft>
              <a:buClr>
                <a:srgbClr val="000000"/>
              </a:buClr>
              <a:buSzPts val="1400"/>
              <a:buFont typeface="Arial"/>
              <a:buChar char="•"/>
              <a:defRPr b="0" i="0" sz="1867" u="none" cap="none" strike="noStrike">
                <a:solidFill>
                  <a:srgbClr val="000000"/>
                </a:solidFill>
                <a:latin typeface="Arial"/>
                <a:ea typeface="Arial"/>
                <a:cs typeface="Arial"/>
                <a:sym typeface="Arial"/>
              </a:defRPr>
            </a:lvl3pPr>
            <a:lvl4pPr indent="-317500" lvl="3" marL="1828800" marR="0" algn="l">
              <a:lnSpc>
                <a:spcPct val="100000"/>
              </a:lnSpc>
              <a:spcBef>
                <a:spcPts val="0"/>
              </a:spcBef>
              <a:spcAft>
                <a:spcPts val="0"/>
              </a:spcAft>
              <a:buClr>
                <a:srgbClr val="000000"/>
              </a:buClr>
              <a:buSzPts val="1400"/>
              <a:buFont typeface="Arial"/>
              <a:buChar char="•"/>
              <a:defRPr b="0" i="0" sz="1867" u="none" cap="none" strike="noStrike">
                <a:solidFill>
                  <a:srgbClr val="000000"/>
                </a:solidFill>
                <a:latin typeface="Arial"/>
                <a:ea typeface="Arial"/>
                <a:cs typeface="Arial"/>
                <a:sym typeface="Arial"/>
              </a:defRPr>
            </a:lvl4pPr>
            <a:lvl5pPr indent="-317500" lvl="4" marL="2286000" marR="0" algn="l">
              <a:lnSpc>
                <a:spcPct val="100000"/>
              </a:lnSpc>
              <a:spcBef>
                <a:spcPts val="0"/>
              </a:spcBef>
              <a:spcAft>
                <a:spcPts val="0"/>
              </a:spcAft>
              <a:buClr>
                <a:srgbClr val="000000"/>
              </a:buClr>
              <a:buSzPts val="1400"/>
              <a:buFont typeface="Arial"/>
              <a:buChar char="•"/>
              <a:defRPr b="0" i="0" sz="1867"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9pPr>
          </a:lstStyle>
          <a:p/>
        </p:txBody>
      </p:sp>
      <p:sp>
        <p:nvSpPr>
          <p:cNvPr id="19" name="Google Shape;19;p3"/>
          <p:cNvSpPr txBox="1"/>
          <p:nvPr>
            <p:ph type="title"/>
          </p:nvPr>
        </p:nvSpPr>
        <p:spPr>
          <a:xfrm>
            <a:off x="1076915" y="98171"/>
            <a:ext cx="10104400" cy="483148"/>
          </a:xfrm>
          <a:prstGeom prst="rect">
            <a:avLst/>
          </a:prstGeom>
          <a:noFill/>
          <a:ln>
            <a:noFill/>
          </a:ln>
        </p:spPr>
        <p:txBody>
          <a:bodyPr anchorCtr="0" anchor="ctr" bIns="60950" lIns="121900" spcFirstLastPara="1" rIns="121900" wrap="square" tIns="60950">
            <a:noAutofit/>
          </a:bodyPr>
          <a:lstStyle>
            <a:lvl1pPr lvl="0" marR="0" algn="l">
              <a:lnSpc>
                <a:spcPct val="100000"/>
              </a:lnSpc>
              <a:spcBef>
                <a:spcPts val="0"/>
              </a:spcBef>
              <a:spcAft>
                <a:spcPts val="0"/>
              </a:spcAft>
              <a:buClr>
                <a:srgbClr val="000000"/>
              </a:buClr>
              <a:buSzPts val="1400"/>
              <a:buFont typeface="Arial"/>
              <a:buNone/>
              <a:defRPr b="1" i="0" sz="3733" u="none" cap="none" strike="noStrike">
                <a:solidFill>
                  <a:srgbClr val="F59222"/>
                </a:solidFill>
                <a:latin typeface="Montserrat"/>
                <a:ea typeface="Montserrat"/>
                <a:cs typeface="Montserrat"/>
                <a:sym typeface="Montserrat"/>
              </a:defRPr>
            </a:lvl1pPr>
            <a:lvl2pPr lvl="1"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20" name="Shape 20"/>
        <p:cNvGrpSpPr/>
        <p:nvPr/>
      </p:nvGrpSpPr>
      <p:grpSpPr>
        <a:xfrm>
          <a:off x="0" y="0"/>
          <a:ext cx="0" cy="0"/>
          <a:chOff x="0" y="0"/>
          <a:chExt cx="0" cy="0"/>
        </a:xfrm>
      </p:grpSpPr>
      <p:sp>
        <p:nvSpPr>
          <p:cNvPr id="21" name="Google Shape;21;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 name="Google Shape;23;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5" name="Google Shape;35;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
        <p:nvSpPr>
          <p:cNvPr id="60" name="Google Shape;60;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3" name="Shape 63"/>
        <p:cNvGrpSpPr/>
        <p:nvPr/>
      </p:nvGrpSpPr>
      <p:grpSpPr>
        <a:xfrm>
          <a:off x="0" y="0"/>
          <a:ext cx="0" cy="0"/>
          <a:chOff x="0" y="0"/>
          <a:chExt cx="0" cy="0"/>
        </a:xfrm>
      </p:grpSpPr>
      <p:sp>
        <p:nvSpPr>
          <p:cNvPr id="64" name="Google Shape;64;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6" name="Google Shape;66;p1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7" name="Google Shape;67;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0" name="Shape 70"/>
        <p:cNvGrpSpPr/>
        <p:nvPr/>
      </p:nvGrpSpPr>
      <p:grpSpPr>
        <a:xfrm>
          <a:off x="0" y="0"/>
          <a:ext cx="0" cy="0"/>
          <a:chOff x="0" y="0"/>
          <a:chExt cx="0" cy="0"/>
        </a:xfrm>
      </p:grpSpPr>
      <p:sp>
        <p:nvSpPr>
          <p:cNvPr id="71" name="Google Shape;71;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2"/>
          <p:cNvSpPr/>
          <p:nvPr>
            <p:ph idx="2" type="pic"/>
          </p:nvPr>
        </p:nvSpPr>
        <p:spPr>
          <a:xfrm>
            <a:off x="5183188" y="987425"/>
            <a:ext cx="6172200" cy="4873625"/>
          </a:xfrm>
          <a:prstGeom prst="rect">
            <a:avLst/>
          </a:prstGeom>
          <a:noFill/>
          <a:ln>
            <a:noFill/>
          </a:ln>
        </p:spPr>
      </p:sp>
      <p:sp>
        <p:nvSpPr>
          <p:cNvPr id="73" name="Google Shape;73;p1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4" name="Google Shape;7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7" name="Shape 77"/>
        <p:cNvGrpSpPr/>
        <p:nvPr/>
      </p:nvGrpSpPr>
      <p:grpSpPr>
        <a:xfrm>
          <a:off x="0" y="0"/>
          <a:ext cx="0" cy="0"/>
          <a:chOff x="0" y="0"/>
          <a:chExt cx="0" cy="0"/>
        </a:xfrm>
      </p:grpSpPr>
      <p:sp>
        <p:nvSpPr>
          <p:cNvPr id="78" name="Google Shape;7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3" name="Shape 83"/>
        <p:cNvGrpSpPr/>
        <p:nvPr/>
      </p:nvGrpSpPr>
      <p:grpSpPr>
        <a:xfrm>
          <a:off x="0" y="0"/>
          <a:ext cx="0" cy="0"/>
          <a:chOff x="0" y="0"/>
          <a:chExt cx="0" cy="0"/>
        </a:xfrm>
      </p:grpSpPr>
      <p:sp>
        <p:nvSpPr>
          <p:cNvPr id="84" name="Google Shape;84;p1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A blue and orange logo&#10;&#10;AI-generated content may be incorrect." id="15" name="Google Shape;15;p2"/>
          <p:cNvPicPr preferRelativeResize="0"/>
          <p:nvPr/>
        </p:nvPicPr>
        <p:blipFill rotWithShape="1">
          <a:blip r:embed="rId1">
            <a:alphaModFix/>
          </a:blip>
          <a:srcRect b="0" l="0" r="0" t="0"/>
          <a:stretch/>
        </p:blipFill>
        <p:spPr>
          <a:xfrm>
            <a:off x="11479607" y="7817"/>
            <a:ext cx="685680" cy="70261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3.png"/><Relationship Id="rId13" Type="http://schemas.openxmlformats.org/officeDocument/2006/relationships/hyperlink" Target="https://prism-backend-4mfu.onrender.com/" TargetMode="External"/><Relationship Id="rId12" Type="http://schemas.openxmlformats.org/officeDocument/2006/relationships/hyperlink" Target="https://github.com/thecamouflagedgeek/PRISM.git" TargetMode="External"/><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1.png"/><Relationship Id="rId9" Type="http://schemas.openxmlformats.org/officeDocument/2006/relationships/image" Target="../media/image2.png"/><Relationship Id="rId15" Type="http://schemas.openxmlformats.org/officeDocument/2006/relationships/image" Target="../media/image8.png"/><Relationship Id="rId14" Type="http://schemas.openxmlformats.org/officeDocument/2006/relationships/hyperlink" Target="https://drive.google.com/drive/folders/1Bp1R5hF3XBrDEYBXEWciUBfmwXX_oJC9" TargetMode="External"/><Relationship Id="rId5" Type="http://schemas.openxmlformats.org/officeDocument/2006/relationships/image" Target="../media/image10.png"/><Relationship Id="rId6" Type="http://schemas.openxmlformats.org/officeDocument/2006/relationships/image" Target="../media/image9.png"/><Relationship Id="rId7" Type="http://schemas.openxmlformats.org/officeDocument/2006/relationships/image" Target="../media/image4.png"/><Relationship Id="rId8"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
          <p:cNvSpPr txBox="1"/>
          <p:nvPr>
            <p:ph type="title"/>
          </p:nvPr>
        </p:nvSpPr>
        <p:spPr>
          <a:xfrm>
            <a:off x="-619364" y="-171841"/>
            <a:ext cx="12192000" cy="483200"/>
          </a:xfrm>
          <a:prstGeom prst="rect">
            <a:avLst/>
          </a:prstGeom>
          <a:noFill/>
          <a:ln>
            <a:noFill/>
          </a:ln>
        </p:spPr>
        <p:txBody>
          <a:bodyPr anchorCtr="0" anchor="ctr" bIns="81250" lIns="162525" spcFirstLastPara="1" rIns="162525" wrap="square" tIns="81250">
            <a:noAutofit/>
          </a:bodyPr>
          <a:lstStyle/>
          <a:p>
            <a:pPr indent="0" lvl="0" marL="0" rtl="0" algn="ctr">
              <a:lnSpc>
                <a:spcPct val="100000"/>
              </a:lnSpc>
              <a:spcBef>
                <a:spcPts val="0"/>
              </a:spcBef>
              <a:spcAft>
                <a:spcPts val="0"/>
              </a:spcAft>
              <a:buSzPts val="1400"/>
              <a:buNone/>
            </a:pPr>
            <a:r>
              <a:rPr lang="en-US" sz="1600">
                <a:solidFill>
                  <a:srgbClr val="002060"/>
                </a:solidFill>
                <a:latin typeface="Times New Roman"/>
                <a:ea typeface="Times New Roman"/>
                <a:cs typeface="Times New Roman"/>
                <a:sym typeface="Times New Roman"/>
              </a:rPr>
              <a:t> </a:t>
            </a:r>
            <a:br>
              <a:rPr lang="en-US" sz="1600">
                <a:solidFill>
                  <a:srgbClr val="002060"/>
                </a:solidFill>
                <a:latin typeface="Times New Roman"/>
                <a:ea typeface="Times New Roman"/>
                <a:cs typeface="Times New Roman"/>
                <a:sym typeface="Times New Roman"/>
              </a:rPr>
            </a:br>
            <a:br>
              <a:rPr lang="en-US" sz="1600">
                <a:solidFill>
                  <a:srgbClr val="4892DC"/>
                </a:solidFill>
                <a:latin typeface="Times New Roman"/>
                <a:ea typeface="Times New Roman"/>
                <a:cs typeface="Times New Roman"/>
                <a:sym typeface="Times New Roman"/>
              </a:rPr>
            </a:br>
            <a:r>
              <a:rPr lang="en-US" sz="1600">
                <a:solidFill>
                  <a:srgbClr val="1F5C99"/>
                </a:solidFill>
                <a:latin typeface="Times New Roman"/>
                <a:ea typeface="Times New Roman"/>
                <a:cs typeface="Times New Roman"/>
                <a:sym typeface="Times New Roman"/>
              </a:rPr>
              <a:t>PROJECT Name  : </a:t>
            </a:r>
            <a:r>
              <a:rPr lang="en-US" sz="1600">
                <a:latin typeface="Times New Roman"/>
                <a:ea typeface="Times New Roman"/>
                <a:cs typeface="Times New Roman"/>
                <a:sym typeface="Times New Roman"/>
              </a:rPr>
              <a:t>PRISM [ Predictive Risk Insights &amp; Scoring Model]</a:t>
            </a:r>
            <a:br>
              <a:rPr lang="en-US" sz="1600">
                <a:solidFill>
                  <a:srgbClr val="1F5C99"/>
                </a:solidFill>
                <a:latin typeface="Times New Roman"/>
                <a:ea typeface="Times New Roman"/>
                <a:cs typeface="Times New Roman"/>
                <a:sym typeface="Times New Roman"/>
              </a:rPr>
            </a:br>
            <a:r>
              <a:rPr lang="en-US" sz="1600">
                <a:solidFill>
                  <a:srgbClr val="002060"/>
                </a:solidFill>
                <a:latin typeface="Times New Roman"/>
                <a:ea typeface="Times New Roman"/>
                <a:cs typeface="Times New Roman"/>
                <a:sym typeface="Times New Roman"/>
              </a:rPr>
              <a:t> </a:t>
            </a:r>
            <a:endParaRPr/>
          </a:p>
        </p:txBody>
      </p:sp>
      <p:cxnSp>
        <p:nvCxnSpPr>
          <p:cNvPr id="94" name="Google Shape;94;p1"/>
          <p:cNvCxnSpPr/>
          <p:nvPr/>
        </p:nvCxnSpPr>
        <p:spPr>
          <a:xfrm flipH="1">
            <a:off x="6157079" y="1388640"/>
            <a:ext cx="22400" cy="5470800"/>
          </a:xfrm>
          <a:prstGeom prst="straightConnector1">
            <a:avLst/>
          </a:prstGeom>
          <a:noFill/>
          <a:ln cap="flat" cmpd="sng" w="19050">
            <a:solidFill>
              <a:schemeClr val="lt1"/>
            </a:solidFill>
            <a:prstDash val="solid"/>
            <a:round/>
            <a:headEnd len="med" w="med" type="oval"/>
            <a:tailEnd len="med" w="med" type="oval"/>
          </a:ln>
        </p:spPr>
      </p:cxnSp>
      <p:cxnSp>
        <p:nvCxnSpPr>
          <p:cNvPr id="95" name="Google Shape;95;p1"/>
          <p:cNvCxnSpPr/>
          <p:nvPr/>
        </p:nvCxnSpPr>
        <p:spPr>
          <a:xfrm>
            <a:off x="174587" y="3879575"/>
            <a:ext cx="11870800" cy="0"/>
          </a:xfrm>
          <a:prstGeom prst="straightConnector1">
            <a:avLst/>
          </a:prstGeom>
          <a:noFill/>
          <a:ln cap="flat" cmpd="sng" w="19050">
            <a:solidFill>
              <a:schemeClr val="lt1"/>
            </a:solidFill>
            <a:prstDash val="solid"/>
            <a:round/>
            <a:headEnd len="med" w="med" type="oval"/>
            <a:tailEnd len="med" w="med" type="oval"/>
          </a:ln>
        </p:spPr>
      </p:cxnSp>
      <p:sp>
        <p:nvSpPr>
          <p:cNvPr id="96" name="Google Shape;96;p1"/>
          <p:cNvSpPr/>
          <p:nvPr/>
        </p:nvSpPr>
        <p:spPr>
          <a:xfrm>
            <a:off x="525383" y="1092437"/>
            <a:ext cx="5233200" cy="4832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None/>
            </a:pPr>
            <a:r>
              <a:rPr b="1" i="0" lang="en-US" sz="2133" u="none" cap="none" strike="noStrike">
                <a:solidFill>
                  <a:schemeClr val="lt1"/>
                </a:solidFill>
                <a:latin typeface="Times New Roman"/>
                <a:ea typeface="Times New Roman"/>
                <a:cs typeface="Times New Roman"/>
                <a:sym typeface="Times New Roman"/>
              </a:rPr>
              <a:t>Objective</a:t>
            </a:r>
            <a:endParaRPr b="0" i="0" sz="1867" u="none" cap="none" strike="noStrike">
              <a:solidFill>
                <a:srgbClr val="000000"/>
              </a:solidFill>
              <a:latin typeface="Times New Roman"/>
              <a:ea typeface="Times New Roman"/>
              <a:cs typeface="Times New Roman"/>
              <a:sym typeface="Times New Roman"/>
            </a:endParaRPr>
          </a:p>
        </p:txBody>
      </p:sp>
      <p:sp>
        <p:nvSpPr>
          <p:cNvPr id="97" name="Google Shape;97;p1"/>
          <p:cNvSpPr/>
          <p:nvPr/>
        </p:nvSpPr>
        <p:spPr>
          <a:xfrm>
            <a:off x="6187449" y="1192755"/>
            <a:ext cx="5811400" cy="522967"/>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None/>
            </a:pPr>
            <a:r>
              <a:rPr b="1" i="0" lang="en-US" sz="2000" u="none" cap="none" strike="noStrike">
                <a:solidFill>
                  <a:schemeClr val="lt1"/>
                </a:solidFill>
                <a:latin typeface="Times New Roman"/>
                <a:ea typeface="Times New Roman"/>
                <a:cs typeface="Times New Roman"/>
                <a:sym typeface="Times New Roman"/>
              </a:rPr>
              <a:t>Key Deliverables in Nov-Dec 2025</a:t>
            </a:r>
            <a:endParaRPr b="0" i="0" sz="2000" u="none" cap="none" strike="noStrike">
              <a:solidFill>
                <a:schemeClr val="lt1"/>
              </a:solidFill>
              <a:latin typeface="Times New Roman"/>
              <a:ea typeface="Times New Roman"/>
              <a:cs typeface="Times New Roman"/>
              <a:sym typeface="Times New Roman"/>
            </a:endParaRPr>
          </a:p>
        </p:txBody>
      </p:sp>
      <p:sp>
        <p:nvSpPr>
          <p:cNvPr id="98" name="Google Shape;98;p1"/>
          <p:cNvSpPr/>
          <p:nvPr/>
        </p:nvSpPr>
        <p:spPr>
          <a:xfrm>
            <a:off x="358776" y="3878704"/>
            <a:ext cx="5558400" cy="4832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None/>
            </a:pPr>
            <a:r>
              <a:rPr b="1" i="0" lang="en-US" sz="2133" u="none" cap="none" strike="noStrike">
                <a:solidFill>
                  <a:schemeClr val="lt1"/>
                </a:solidFill>
                <a:latin typeface="Times New Roman"/>
                <a:ea typeface="Times New Roman"/>
                <a:cs typeface="Times New Roman"/>
                <a:sym typeface="Times New Roman"/>
              </a:rPr>
              <a:t>Plan for next 2 month</a:t>
            </a:r>
            <a:endParaRPr b="0" i="0" sz="1867" u="none" cap="none" strike="noStrike">
              <a:solidFill>
                <a:srgbClr val="000000"/>
              </a:solidFill>
              <a:latin typeface="Times New Roman"/>
              <a:ea typeface="Times New Roman"/>
              <a:cs typeface="Times New Roman"/>
              <a:sym typeface="Times New Roman"/>
            </a:endParaRPr>
          </a:p>
        </p:txBody>
      </p:sp>
      <p:sp>
        <p:nvSpPr>
          <p:cNvPr id="99" name="Google Shape;99;p1"/>
          <p:cNvSpPr txBox="1"/>
          <p:nvPr>
            <p:ph idx="1" type="body"/>
          </p:nvPr>
        </p:nvSpPr>
        <p:spPr>
          <a:xfrm>
            <a:off x="548150" y="1864650"/>
            <a:ext cx="5639400" cy="3867300"/>
          </a:xfrm>
          <a:prstGeom prst="rect">
            <a:avLst/>
          </a:prstGeom>
          <a:noFill/>
          <a:ln>
            <a:noFill/>
          </a:ln>
        </p:spPr>
        <p:txBody>
          <a:bodyPr anchorCtr="0" anchor="t" bIns="60925" lIns="121900" spcFirstLastPara="1" rIns="121900" wrap="square" tIns="60925">
            <a:noAutofit/>
          </a:bodyPr>
          <a:lstStyle/>
          <a:p>
            <a:pPr indent="0" lvl="0" marL="16932" rtl="0" algn="just">
              <a:lnSpc>
                <a:spcPct val="100000"/>
              </a:lnSpc>
              <a:spcBef>
                <a:spcPts val="0"/>
              </a:spcBef>
              <a:spcAft>
                <a:spcPts val="0"/>
              </a:spcAft>
              <a:buSzPts val="1200"/>
              <a:buNone/>
            </a:pPr>
            <a:r>
              <a:rPr b="1" lang="en-US" sz="1400">
                <a:solidFill>
                  <a:srgbClr val="1F5C99"/>
                </a:solidFill>
                <a:latin typeface="Times New Roman"/>
                <a:ea typeface="Times New Roman"/>
                <a:cs typeface="Times New Roman"/>
                <a:sym typeface="Times New Roman"/>
              </a:rPr>
              <a:t>Business Value &amp; Game changers: </a:t>
            </a:r>
            <a:endParaRPr/>
          </a:p>
          <a:p>
            <a:pPr indent="0" lvl="0" marL="0" rtl="0" algn="just">
              <a:spcBef>
                <a:spcPts val="0"/>
              </a:spcBef>
              <a:spcAft>
                <a:spcPts val="0"/>
              </a:spcAft>
              <a:buNone/>
            </a:pPr>
            <a:r>
              <a:rPr b="1" lang="en-US" sz="1300">
                <a:solidFill>
                  <a:schemeClr val="dk1"/>
                </a:solidFill>
                <a:latin typeface="Times New Roman"/>
                <a:ea typeface="Times New Roman"/>
                <a:cs typeface="Times New Roman"/>
                <a:sym typeface="Times New Roman"/>
              </a:rPr>
              <a:t>Efficiency:</a:t>
            </a:r>
            <a:r>
              <a:rPr lang="en-US" sz="1300">
                <a:solidFill>
                  <a:schemeClr val="dk1"/>
                </a:solidFill>
                <a:latin typeface="Times New Roman"/>
                <a:ea typeface="Times New Roman"/>
                <a:cs typeface="Times New Roman"/>
                <a:sym typeface="Times New Roman"/>
              </a:rPr>
              <a:t> 60–80% reduction in manual effort through automation.</a:t>
            </a:r>
            <a:endParaRPr sz="13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b="1" lang="en-US" sz="1300">
                <a:solidFill>
                  <a:schemeClr val="dk1"/>
                </a:solidFill>
                <a:latin typeface="Times New Roman"/>
                <a:ea typeface="Times New Roman"/>
                <a:cs typeface="Times New Roman"/>
                <a:sym typeface="Times New Roman"/>
              </a:rPr>
              <a:t>Speed:</a:t>
            </a:r>
            <a:r>
              <a:rPr lang="en-US" sz="1300">
                <a:solidFill>
                  <a:schemeClr val="dk1"/>
                </a:solidFill>
                <a:latin typeface="Times New Roman"/>
                <a:ea typeface="Times New Roman"/>
                <a:cs typeface="Times New Roman"/>
                <a:sym typeface="Times New Roman"/>
              </a:rPr>
              <a:t> Enables near real-time credit decisions.</a:t>
            </a:r>
            <a:endParaRPr sz="13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b="1" lang="en-US" sz="1300">
                <a:solidFill>
                  <a:schemeClr val="dk1"/>
                </a:solidFill>
                <a:latin typeface="Times New Roman"/>
                <a:ea typeface="Times New Roman"/>
                <a:cs typeface="Times New Roman"/>
                <a:sym typeface="Times New Roman"/>
              </a:rPr>
              <a:t>Cost:</a:t>
            </a:r>
            <a:r>
              <a:rPr lang="en-US" sz="1300">
                <a:solidFill>
                  <a:schemeClr val="dk1"/>
                </a:solidFill>
                <a:latin typeface="Times New Roman"/>
                <a:ea typeface="Times New Roman"/>
                <a:cs typeface="Times New Roman"/>
                <a:sym typeface="Times New Roman"/>
              </a:rPr>
              <a:t> Reduces operational and underwriting expenses.</a:t>
            </a:r>
            <a:endParaRPr sz="13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b="1" lang="en-US" sz="1300">
                <a:solidFill>
                  <a:schemeClr val="dk1"/>
                </a:solidFill>
                <a:latin typeface="Times New Roman"/>
                <a:ea typeface="Times New Roman"/>
                <a:cs typeface="Times New Roman"/>
                <a:sym typeface="Times New Roman"/>
              </a:rPr>
              <a:t>Fraud Reduction:</a:t>
            </a:r>
            <a:r>
              <a:rPr lang="en-US" sz="1300">
                <a:solidFill>
                  <a:schemeClr val="dk1"/>
                </a:solidFill>
                <a:latin typeface="Times New Roman"/>
                <a:ea typeface="Times New Roman"/>
                <a:cs typeface="Times New Roman"/>
                <a:sym typeface="Times New Roman"/>
              </a:rPr>
              <a:t> Early detection minimizes risk exposure.</a:t>
            </a:r>
            <a:endParaRPr sz="13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b="1" lang="en-US" sz="1300">
                <a:solidFill>
                  <a:schemeClr val="dk1"/>
                </a:solidFill>
                <a:latin typeface="Times New Roman"/>
                <a:ea typeface="Times New Roman"/>
                <a:cs typeface="Times New Roman"/>
                <a:sym typeface="Times New Roman"/>
              </a:rPr>
              <a:t>Compliance:</a:t>
            </a:r>
            <a:r>
              <a:rPr lang="en-US" sz="1300">
                <a:solidFill>
                  <a:schemeClr val="dk1"/>
                </a:solidFill>
                <a:latin typeface="Times New Roman"/>
                <a:ea typeface="Times New Roman"/>
                <a:cs typeface="Times New Roman"/>
                <a:sym typeface="Times New Roman"/>
              </a:rPr>
              <a:t> Ensures transparency via explainability and audit logs.</a:t>
            </a:r>
            <a:endParaRPr sz="13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b="1" lang="en-US" sz="1300">
                <a:solidFill>
                  <a:schemeClr val="dk1"/>
                </a:solidFill>
                <a:latin typeface="Times New Roman"/>
                <a:ea typeface="Times New Roman"/>
                <a:cs typeface="Times New Roman"/>
                <a:sym typeface="Times New Roman"/>
              </a:rPr>
              <a:t>Scalability:</a:t>
            </a:r>
            <a:r>
              <a:rPr lang="en-US" sz="1300">
                <a:solidFill>
                  <a:schemeClr val="dk1"/>
                </a:solidFill>
                <a:latin typeface="Times New Roman"/>
                <a:ea typeface="Times New Roman"/>
                <a:cs typeface="Times New Roman"/>
                <a:sym typeface="Times New Roman"/>
              </a:rPr>
              <a:t> Modular APIs support high-volume deployment.</a:t>
            </a:r>
            <a:endParaRPr b="1" sz="1400">
              <a:solidFill>
                <a:schemeClr val="dk1"/>
              </a:solidFill>
              <a:latin typeface="Times New Roman"/>
              <a:ea typeface="Times New Roman"/>
              <a:cs typeface="Times New Roman"/>
              <a:sym typeface="Times New Roman"/>
            </a:endParaRPr>
          </a:p>
          <a:p>
            <a:pPr indent="0" lvl="0" marL="16932" rtl="0" algn="just">
              <a:lnSpc>
                <a:spcPct val="100000"/>
              </a:lnSpc>
              <a:spcBef>
                <a:spcPts val="0"/>
              </a:spcBef>
              <a:spcAft>
                <a:spcPts val="0"/>
              </a:spcAft>
              <a:buSzPts val="1200"/>
              <a:buNone/>
            </a:pPr>
            <a:r>
              <a:t/>
            </a:r>
            <a:endParaRPr b="1" sz="1400">
              <a:solidFill>
                <a:srgbClr val="1F5C99"/>
              </a:solidFill>
              <a:latin typeface="Times New Roman"/>
              <a:ea typeface="Times New Roman"/>
              <a:cs typeface="Times New Roman"/>
              <a:sym typeface="Times New Roman"/>
            </a:endParaRPr>
          </a:p>
          <a:p>
            <a:pPr indent="0" lvl="0" marL="16932" rtl="0" algn="just">
              <a:lnSpc>
                <a:spcPct val="100000"/>
              </a:lnSpc>
              <a:spcBef>
                <a:spcPts val="0"/>
              </a:spcBef>
              <a:spcAft>
                <a:spcPts val="0"/>
              </a:spcAft>
              <a:buSzPts val="1200"/>
              <a:buNone/>
            </a:pPr>
            <a:r>
              <a:rPr b="1" lang="en-US" sz="1400">
                <a:solidFill>
                  <a:srgbClr val="1F5C99"/>
                </a:solidFill>
                <a:latin typeface="Times New Roman"/>
                <a:ea typeface="Times New Roman"/>
                <a:cs typeface="Times New Roman"/>
                <a:sym typeface="Times New Roman"/>
              </a:rPr>
              <a:t>Key Accomplishments |  : Mar 2026 </a:t>
            </a:r>
            <a:endParaRPr/>
          </a:p>
          <a:p>
            <a:pPr indent="-311150" lvl="0" marL="457200" rtl="0" algn="l">
              <a:lnSpc>
                <a:spcPct val="115000"/>
              </a:lnSpc>
              <a:spcBef>
                <a:spcPts val="1200"/>
              </a:spcBef>
              <a:spcAft>
                <a:spcPts val="0"/>
              </a:spcAft>
              <a:buClr>
                <a:schemeClr val="dk1"/>
              </a:buClr>
              <a:buSzPts val="1300"/>
              <a:buChar char="●"/>
            </a:pPr>
            <a:r>
              <a:rPr lang="en-US" sz="1300">
                <a:solidFill>
                  <a:schemeClr val="dk1"/>
                </a:solidFill>
                <a:latin typeface="Times New Roman"/>
                <a:ea typeface="Times New Roman"/>
                <a:cs typeface="Times New Roman"/>
                <a:sym typeface="Times New Roman"/>
              </a:rPr>
              <a:t>Built end-to-end pipeline (OCR, fraud, scoring, sentiment, explainability).</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latin typeface="Times New Roman"/>
                <a:ea typeface="Times New Roman"/>
                <a:cs typeface="Times New Roman"/>
                <a:sym typeface="Times New Roman"/>
              </a:rPr>
              <a:t>Developed APIs and demonstrated full system flow.</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latin typeface="Times New Roman"/>
                <a:ea typeface="Times New Roman"/>
                <a:cs typeface="Times New Roman"/>
                <a:sym typeface="Times New Roman"/>
              </a:rPr>
              <a:t>Finalized modular architecture with integrated fraud and explainability.</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Designed feature-level data schema for bank, EPFO, and utility data</a:t>
            </a:r>
            <a:endParaRPr sz="1300">
              <a:solidFill>
                <a:schemeClr val="dk1"/>
              </a:solidFill>
              <a:latin typeface="Times New Roman"/>
              <a:ea typeface="Times New Roman"/>
              <a:cs typeface="Times New Roman"/>
              <a:sym typeface="Times New Roman"/>
            </a:endParaRPr>
          </a:p>
          <a:p>
            <a:pPr indent="0" lvl="0" marL="16932" rtl="0" algn="just">
              <a:lnSpc>
                <a:spcPct val="100000"/>
              </a:lnSpc>
              <a:spcBef>
                <a:spcPts val="1200"/>
              </a:spcBef>
              <a:spcAft>
                <a:spcPts val="0"/>
              </a:spcAft>
              <a:buSzPts val="1200"/>
              <a:buNone/>
            </a:pPr>
            <a:r>
              <a:rPr b="1" lang="en-US" sz="1400">
                <a:solidFill>
                  <a:srgbClr val="1F5C99"/>
                </a:solidFill>
                <a:latin typeface="Times New Roman"/>
                <a:ea typeface="Times New Roman"/>
                <a:cs typeface="Times New Roman"/>
                <a:sym typeface="Times New Roman"/>
              </a:rPr>
              <a:t>Reusable Assets/Solutions/Opportunities:</a:t>
            </a:r>
            <a:r>
              <a:rPr b="1" lang="en-US" sz="1300">
                <a:solidFill>
                  <a:srgbClr val="1F5C99"/>
                </a:solidFill>
                <a:latin typeface="Times New Roman"/>
                <a:ea typeface="Times New Roman"/>
                <a:cs typeface="Times New Roman"/>
                <a:sym typeface="Times New Roman"/>
              </a:rPr>
              <a:t> </a:t>
            </a:r>
            <a:r>
              <a:rPr b="1" lang="en-US" sz="1300">
                <a:solidFill>
                  <a:schemeClr val="dk1"/>
                </a:solidFill>
                <a:latin typeface="Times New Roman"/>
                <a:ea typeface="Times New Roman"/>
                <a:cs typeface="Times New Roman"/>
                <a:sym typeface="Times New Roman"/>
              </a:rPr>
              <a:t>Yes</a:t>
            </a:r>
            <a:r>
              <a:rPr lang="en-US" sz="1300">
                <a:solidFill>
                  <a:schemeClr val="dk1"/>
                </a:solidFill>
                <a:latin typeface="Times New Roman"/>
                <a:ea typeface="Times New Roman"/>
                <a:cs typeface="Times New Roman"/>
                <a:sym typeface="Times New Roman"/>
              </a:rPr>
              <a:t>. These include reusable APIs and models for fintech systems. </a:t>
            </a:r>
            <a:endParaRPr sz="1300">
              <a:latin typeface="Times New Roman"/>
              <a:ea typeface="Times New Roman"/>
              <a:cs typeface="Times New Roman"/>
              <a:sym typeface="Times New Roman"/>
            </a:endParaRPr>
          </a:p>
          <a:p>
            <a:pPr indent="0" lvl="0" marL="0" rtl="0" algn="just">
              <a:lnSpc>
                <a:spcPct val="100000"/>
              </a:lnSpc>
              <a:spcBef>
                <a:spcPts val="0"/>
              </a:spcBef>
              <a:spcAft>
                <a:spcPts val="0"/>
              </a:spcAft>
              <a:buSzPts val="1200"/>
              <a:buNone/>
            </a:pPr>
            <a:r>
              <a:t/>
            </a:r>
            <a:endParaRPr sz="1400">
              <a:latin typeface="Times New Roman"/>
              <a:ea typeface="Times New Roman"/>
              <a:cs typeface="Times New Roman"/>
              <a:sym typeface="Times New Roman"/>
            </a:endParaRPr>
          </a:p>
          <a:p>
            <a:pPr indent="0" lvl="0" marL="16932" rtl="0" algn="just">
              <a:lnSpc>
                <a:spcPct val="100000"/>
              </a:lnSpc>
              <a:spcBef>
                <a:spcPts val="0"/>
              </a:spcBef>
              <a:spcAft>
                <a:spcPts val="0"/>
              </a:spcAft>
              <a:buSzPts val="1200"/>
              <a:buNone/>
            </a:pPr>
            <a:r>
              <a:rPr b="1" lang="en-US" sz="1400">
                <a:solidFill>
                  <a:srgbClr val="1F5C99"/>
                </a:solidFill>
                <a:latin typeface="Times New Roman"/>
                <a:ea typeface="Times New Roman"/>
                <a:cs typeface="Times New Roman"/>
                <a:sym typeface="Times New Roman"/>
              </a:rPr>
              <a:t>Upcoming Milestone: Improve model performance (recall, OCR accuracy)</a:t>
            </a:r>
            <a:endParaRPr b="1" sz="1400">
              <a:solidFill>
                <a:srgbClr val="1F5C99"/>
              </a:solidFill>
              <a:latin typeface="Times New Roman"/>
              <a:ea typeface="Times New Roman"/>
              <a:cs typeface="Times New Roman"/>
              <a:sym typeface="Times New Roman"/>
            </a:endParaRPr>
          </a:p>
          <a:p>
            <a:pPr indent="-285750" lvl="0" marL="457200" rtl="0" algn="l">
              <a:lnSpc>
                <a:spcPct val="115000"/>
              </a:lnSpc>
              <a:spcBef>
                <a:spcPts val="1200"/>
              </a:spcBef>
              <a:spcAft>
                <a:spcPts val="0"/>
              </a:spcAft>
              <a:buClr>
                <a:schemeClr val="dk1"/>
              </a:buClr>
              <a:buSzPts val="900"/>
              <a:buChar char="●"/>
            </a:pPr>
            <a:r>
              <a:rPr lang="en-US" sz="1300">
                <a:solidFill>
                  <a:schemeClr val="dk1"/>
                </a:solidFill>
                <a:latin typeface="Times New Roman"/>
                <a:ea typeface="Times New Roman"/>
                <a:cs typeface="Times New Roman"/>
                <a:sym typeface="Times New Roman"/>
              </a:rPr>
              <a:t>Improve model performance</a:t>
            </a:r>
            <a:endParaRPr sz="1300">
              <a:solidFill>
                <a:schemeClr val="dk1"/>
              </a:solidFill>
              <a:latin typeface="Times New Roman"/>
              <a:ea typeface="Times New Roman"/>
              <a:cs typeface="Times New Roman"/>
              <a:sym typeface="Times New Roman"/>
            </a:endParaRPr>
          </a:p>
          <a:p>
            <a:pPr indent="-285750" lvl="0" marL="457200" rtl="0" algn="l">
              <a:lnSpc>
                <a:spcPct val="115000"/>
              </a:lnSpc>
              <a:spcBef>
                <a:spcPts val="0"/>
              </a:spcBef>
              <a:spcAft>
                <a:spcPts val="0"/>
              </a:spcAft>
              <a:buClr>
                <a:schemeClr val="dk1"/>
              </a:buClr>
              <a:buSzPts val="900"/>
              <a:buChar char="●"/>
            </a:pPr>
            <a:r>
              <a:rPr lang="en-US" sz="1300">
                <a:solidFill>
                  <a:schemeClr val="dk1"/>
                </a:solidFill>
                <a:latin typeface="Times New Roman"/>
                <a:ea typeface="Times New Roman"/>
                <a:cs typeface="Times New Roman"/>
                <a:sym typeface="Times New Roman"/>
              </a:rPr>
              <a:t>Integrate real-world datasets/APIs</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3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b="1" sz="1200">
              <a:solidFill>
                <a:schemeClr val="dk1"/>
              </a:solidFill>
              <a:latin typeface="Times New Roman"/>
              <a:ea typeface="Times New Roman"/>
              <a:cs typeface="Times New Roman"/>
              <a:sym typeface="Times New Roman"/>
            </a:endParaRPr>
          </a:p>
          <a:p>
            <a:pPr indent="0" lvl="0" marL="16932" rtl="0" algn="just">
              <a:lnSpc>
                <a:spcPct val="100000"/>
              </a:lnSpc>
              <a:spcBef>
                <a:spcPts val="1200"/>
              </a:spcBef>
              <a:spcAft>
                <a:spcPts val="0"/>
              </a:spcAft>
              <a:buSzPts val="1200"/>
              <a:buNone/>
            </a:pPr>
            <a:r>
              <a:t/>
            </a:r>
            <a:endParaRPr b="1" sz="1400">
              <a:solidFill>
                <a:srgbClr val="1F5C99"/>
              </a:solidFill>
              <a:latin typeface="Times New Roman"/>
              <a:ea typeface="Times New Roman"/>
              <a:cs typeface="Times New Roman"/>
              <a:sym typeface="Times New Roman"/>
            </a:endParaRPr>
          </a:p>
        </p:txBody>
      </p:sp>
      <p:sp>
        <p:nvSpPr>
          <p:cNvPr id="100" name="Google Shape;100;p1"/>
          <p:cNvSpPr txBox="1"/>
          <p:nvPr/>
        </p:nvSpPr>
        <p:spPr>
          <a:xfrm>
            <a:off x="-538375" y="205268"/>
            <a:ext cx="12192000" cy="492600"/>
          </a:xfrm>
          <a:prstGeom prst="rect">
            <a:avLst/>
          </a:prstGeom>
          <a:noFill/>
          <a:ln>
            <a:noFill/>
          </a:ln>
        </p:spPr>
        <p:txBody>
          <a:bodyPr anchorCtr="0" anchor="t" bIns="121900" lIns="121900" spcFirstLastPara="1" rIns="121900" wrap="square" tIns="121900">
            <a:spAutoFit/>
          </a:bodyPr>
          <a:lstStyle/>
          <a:p>
            <a:pPr indent="0" lvl="0" marL="0" marR="0" rtl="0" algn="ctr">
              <a:spcBef>
                <a:spcPts val="0"/>
              </a:spcBef>
              <a:spcAft>
                <a:spcPts val="0"/>
              </a:spcAft>
              <a:buNone/>
            </a:pPr>
            <a:r>
              <a:rPr b="1" i="0" lang="en-US" sz="1600" u="none" cap="none" strike="noStrike">
                <a:solidFill>
                  <a:srgbClr val="1F5C99"/>
                </a:solidFill>
                <a:latin typeface="Times New Roman"/>
                <a:ea typeface="Times New Roman"/>
                <a:cs typeface="Times New Roman"/>
                <a:sym typeface="Times New Roman"/>
              </a:rPr>
              <a:t>Domain: </a:t>
            </a:r>
            <a:r>
              <a:rPr b="1" i="0" lang="en-US" sz="1600" u="none" cap="none" strike="noStrike">
                <a:solidFill>
                  <a:schemeClr val="dk1"/>
                </a:solidFill>
                <a:latin typeface="Times New Roman"/>
                <a:ea typeface="Times New Roman"/>
                <a:cs typeface="Times New Roman"/>
                <a:sym typeface="Times New Roman"/>
              </a:rPr>
              <a:t>Insurance/Fintech || </a:t>
            </a:r>
            <a:r>
              <a:rPr b="1" i="0" lang="en-US" sz="1600" u="none" cap="none" strike="noStrike">
                <a:solidFill>
                  <a:srgbClr val="1F5C99"/>
                </a:solidFill>
                <a:latin typeface="Times New Roman"/>
                <a:ea typeface="Times New Roman"/>
                <a:cs typeface="Times New Roman"/>
                <a:sym typeface="Times New Roman"/>
              </a:rPr>
              <a:t>Team: </a:t>
            </a:r>
            <a:r>
              <a:rPr b="1" lang="en-US" sz="1600">
                <a:solidFill>
                  <a:schemeClr val="dk1"/>
                </a:solidFill>
                <a:latin typeface="Times New Roman"/>
                <a:ea typeface="Times New Roman"/>
                <a:cs typeface="Times New Roman"/>
                <a:sym typeface="Times New Roman"/>
              </a:rPr>
              <a:t>Hazel Sequeira</a:t>
            </a:r>
            <a:r>
              <a:rPr b="1" i="0" lang="en-US" sz="1600" u="none" cap="none" strike="noStrike">
                <a:solidFill>
                  <a:schemeClr val="dk1"/>
                </a:solidFill>
                <a:latin typeface="Times New Roman"/>
                <a:ea typeface="Times New Roman"/>
                <a:cs typeface="Times New Roman"/>
                <a:sym typeface="Times New Roman"/>
              </a:rPr>
              <a:t>, </a:t>
            </a:r>
            <a:r>
              <a:rPr b="1" lang="en-US" sz="1600">
                <a:solidFill>
                  <a:schemeClr val="dk1"/>
                </a:solidFill>
                <a:latin typeface="Times New Roman"/>
                <a:ea typeface="Times New Roman"/>
                <a:cs typeface="Times New Roman"/>
                <a:sym typeface="Times New Roman"/>
              </a:rPr>
              <a:t>Freia Quadros</a:t>
            </a:r>
            <a:endParaRPr b="1" i="0" sz="1600" u="none" cap="none" strike="noStrike">
              <a:solidFill>
                <a:srgbClr val="000000"/>
              </a:solidFill>
              <a:latin typeface="Times New Roman"/>
              <a:ea typeface="Times New Roman"/>
              <a:cs typeface="Times New Roman"/>
              <a:sym typeface="Times New Roman"/>
            </a:endParaRPr>
          </a:p>
        </p:txBody>
      </p:sp>
      <p:pic>
        <p:nvPicPr>
          <p:cNvPr descr="A red and white target with a yellow arrow&#10;&#10;AI-generated content may be incorrect." id="101" name="Google Shape;101;p1"/>
          <p:cNvPicPr preferRelativeResize="0"/>
          <p:nvPr/>
        </p:nvPicPr>
        <p:blipFill rotWithShape="1">
          <a:blip r:embed="rId3">
            <a:alphaModFix/>
          </a:blip>
          <a:srcRect b="0" l="0" r="0" t="0"/>
          <a:stretch/>
        </p:blipFill>
        <p:spPr>
          <a:xfrm>
            <a:off x="70378" y="1136037"/>
            <a:ext cx="396000" cy="396000"/>
          </a:xfrm>
          <a:prstGeom prst="rect">
            <a:avLst/>
          </a:prstGeom>
          <a:noFill/>
          <a:ln>
            <a:noFill/>
          </a:ln>
        </p:spPr>
      </p:pic>
      <p:pic>
        <p:nvPicPr>
          <p:cNvPr descr="A group of people with arms up and a star above them&#10;&#10;AI-generated content may be incorrect." id="102" name="Google Shape;102;p1"/>
          <p:cNvPicPr preferRelativeResize="0"/>
          <p:nvPr/>
        </p:nvPicPr>
        <p:blipFill rotWithShape="1">
          <a:blip r:embed="rId4">
            <a:alphaModFix/>
          </a:blip>
          <a:srcRect b="0" l="0" r="0" t="0"/>
          <a:stretch/>
        </p:blipFill>
        <p:spPr>
          <a:xfrm>
            <a:off x="138801" y="3577007"/>
            <a:ext cx="396000" cy="396000"/>
          </a:xfrm>
          <a:prstGeom prst="rect">
            <a:avLst/>
          </a:prstGeom>
          <a:noFill/>
          <a:ln>
            <a:noFill/>
          </a:ln>
        </p:spPr>
      </p:pic>
      <p:pic>
        <p:nvPicPr>
          <p:cNvPr descr="A handshake with a tick and a white cloud&#10;&#10;AI-generated content may be incorrect." id="103" name="Google Shape;103;p1"/>
          <p:cNvPicPr preferRelativeResize="0"/>
          <p:nvPr/>
        </p:nvPicPr>
        <p:blipFill rotWithShape="1">
          <a:blip r:embed="rId5">
            <a:alphaModFix/>
          </a:blip>
          <a:srcRect b="0" l="0" r="0" t="0"/>
          <a:stretch/>
        </p:blipFill>
        <p:spPr>
          <a:xfrm>
            <a:off x="6458854" y="2060295"/>
            <a:ext cx="396000" cy="396000"/>
          </a:xfrm>
          <a:prstGeom prst="rect">
            <a:avLst/>
          </a:prstGeom>
          <a:noFill/>
          <a:ln>
            <a:noFill/>
          </a:ln>
        </p:spPr>
      </p:pic>
      <p:pic>
        <p:nvPicPr>
          <p:cNvPr descr="A person holding a paper plane&#10;&#10;AI-generated content may be incorrect." id="104" name="Google Shape;104;p1"/>
          <p:cNvPicPr preferRelativeResize="0"/>
          <p:nvPr/>
        </p:nvPicPr>
        <p:blipFill rotWithShape="1">
          <a:blip r:embed="rId6">
            <a:alphaModFix/>
          </a:blip>
          <a:srcRect b="0" l="0" r="0" t="0"/>
          <a:stretch/>
        </p:blipFill>
        <p:spPr>
          <a:xfrm>
            <a:off x="6458854" y="3411820"/>
            <a:ext cx="396000" cy="396000"/>
          </a:xfrm>
          <a:prstGeom prst="rect">
            <a:avLst/>
          </a:prstGeom>
          <a:noFill/>
          <a:ln>
            <a:noFill/>
          </a:ln>
        </p:spPr>
      </p:pic>
      <p:sp>
        <p:nvSpPr>
          <p:cNvPr id="105" name="Google Shape;105;p1"/>
          <p:cNvSpPr txBox="1"/>
          <p:nvPr/>
        </p:nvSpPr>
        <p:spPr>
          <a:xfrm>
            <a:off x="7159257" y="1864658"/>
            <a:ext cx="4886100" cy="41211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F5C99"/>
                </a:solidFill>
                <a:latin typeface="Times New Roman"/>
                <a:ea typeface="Times New Roman"/>
                <a:cs typeface="Times New Roman"/>
                <a:sym typeface="Times New Roman"/>
              </a:rPr>
              <a:t>Planned Deliverables (Next one Months):</a:t>
            </a:r>
            <a:endParaRPr/>
          </a:p>
          <a:p>
            <a:pPr indent="0" lvl="0" marL="0" rtl="0" algn="l">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Complete end-to-end pipeline stabilization and deploy a production-ready backend on cloud.</a:t>
            </a:r>
            <a:endParaRPr>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US">
                <a:latin typeface="Times New Roman"/>
                <a:ea typeface="Times New Roman"/>
                <a:cs typeface="Times New Roman"/>
                <a:sym typeface="Times New Roman"/>
              </a:rPr>
              <a:t>Enhance model performance (OCR, recall), integrate real-world datasets/APIs, and deliver a functional demo dashboard with full user flow.</a:t>
            </a:r>
            <a:endParaRPr>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1F5C99"/>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F5C99"/>
                </a:solidFill>
                <a:latin typeface="Times New Roman"/>
                <a:ea typeface="Times New Roman"/>
                <a:cs typeface="Times New Roman"/>
                <a:sym typeface="Times New Roman"/>
              </a:rPr>
              <a:t>Risks &amp; Challenges:</a:t>
            </a:r>
            <a:endParaRPr b="1" i="0" sz="1400" u="none" cap="none" strike="noStrike">
              <a:solidFill>
                <a:srgbClr val="1F5C99"/>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a:solidFill>
                  <a:srgbClr val="FF6D6D"/>
                </a:solidFill>
                <a:latin typeface="Times New Roman"/>
                <a:ea typeface="Times New Roman"/>
                <a:cs typeface="Times New Roman"/>
                <a:sym typeface="Times New Roman"/>
              </a:rPr>
              <a:t>Limited access to real-world financial datasets may impact model generalization and validation.</a:t>
            </a:r>
            <a:endParaRPr>
              <a:solidFill>
                <a:srgbClr val="FF6D6D"/>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US">
                <a:solidFill>
                  <a:srgbClr val="FF6D6D"/>
                </a:solidFill>
                <a:latin typeface="Times New Roman"/>
                <a:ea typeface="Times New Roman"/>
                <a:cs typeface="Times New Roman"/>
                <a:sym typeface="Times New Roman"/>
              </a:rPr>
              <a:t>Model imbalance (low recall) and OCR noise handling remain key technical challenges requiring optimization.</a:t>
            </a:r>
            <a:br>
              <a:rPr b="0" i="0" lang="en-US" sz="1400" u="none" cap="none" strike="noStrike">
                <a:solidFill>
                  <a:srgbClr val="000000"/>
                </a:solidFill>
                <a:latin typeface="Times New Roman"/>
                <a:ea typeface="Times New Roman"/>
                <a:cs typeface="Times New Roman"/>
                <a:sym typeface="Times New Roman"/>
              </a:rPr>
            </a:br>
            <a:endParaRPr b="1" i="0" sz="1400" u="none" cap="none" strike="noStrike">
              <a:solidFill>
                <a:srgbClr val="1F5C99"/>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F5C99"/>
                </a:solidFill>
                <a:latin typeface="Times New Roman"/>
                <a:ea typeface="Times New Roman"/>
                <a:cs typeface="Times New Roman"/>
                <a:sym typeface="Times New Roman"/>
              </a:rPr>
              <a:t>Feedback &amp; improvements: </a:t>
            </a:r>
            <a:endParaRPr>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US">
                <a:latin typeface="Times New Roman"/>
                <a:ea typeface="Times New Roman"/>
                <a:cs typeface="Times New Roman"/>
                <a:sym typeface="Times New Roman"/>
              </a:rPr>
              <a:t>Suggested improvements include increasing model robustness, improving explainability depth, and strengthening real-world data integratio</a:t>
            </a:r>
            <a:endParaRPr>
              <a:latin typeface="Times New Roman"/>
              <a:ea typeface="Times New Roman"/>
              <a:cs typeface="Times New Roman"/>
              <a:sym typeface="Times New Roman"/>
            </a:endParaRPr>
          </a:p>
          <a:p>
            <a:pPr indent="-254000" lvl="0" marL="342900" marR="0" rtl="0" algn="l">
              <a:lnSpc>
                <a:spcPct val="100000"/>
              </a:lnSpc>
              <a:spcBef>
                <a:spcPts val="0"/>
              </a:spcBef>
              <a:spcAft>
                <a:spcPts val="0"/>
              </a:spcAft>
              <a:buClr>
                <a:srgbClr val="000000"/>
              </a:buClr>
              <a:buSzPts val="1400"/>
              <a:buFont typeface="Play"/>
              <a:buNone/>
            </a:pPr>
            <a:r>
              <a:t/>
            </a:r>
            <a:endParaRPr b="0" i="0" sz="1400" u="none" cap="none" strike="noStrike">
              <a:solidFill>
                <a:srgbClr val="000000"/>
              </a:solidFill>
              <a:latin typeface="Times New Roman"/>
              <a:ea typeface="Times New Roman"/>
              <a:cs typeface="Times New Roman"/>
              <a:sym typeface="Times New Roman"/>
            </a:endParaRPr>
          </a:p>
          <a:p>
            <a:pPr indent="-254000" lvl="0" marL="342900" marR="0" rtl="0" algn="l">
              <a:lnSpc>
                <a:spcPct val="100000"/>
              </a:lnSpc>
              <a:spcBef>
                <a:spcPts val="0"/>
              </a:spcBef>
              <a:spcAft>
                <a:spcPts val="0"/>
              </a:spcAft>
              <a:buClr>
                <a:srgbClr val="000000"/>
              </a:buClr>
              <a:buSzPts val="1400"/>
              <a:buFont typeface="Play"/>
              <a:buNone/>
            </a:pPr>
            <a:r>
              <a:t/>
            </a:r>
            <a:endParaRPr b="0" i="0" sz="1400" u="none" cap="none" strike="noStrike">
              <a:solidFill>
                <a:srgbClr val="000000"/>
              </a:solidFill>
              <a:latin typeface="Times New Roman"/>
              <a:ea typeface="Times New Roman"/>
              <a:cs typeface="Times New Roman"/>
              <a:sym typeface="Times New Roman"/>
            </a:endParaRPr>
          </a:p>
        </p:txBody>
      </p:sp>
      <p:pic>
        <p:nvPicPr>
          <p:cNvPr descr="A clipboard with a graph on it&#10;&#10;AI-generated content may be incorrect." id="106" name="Google Shape;106;p1"/>
          <p:cNvPicPr preferRelativeResize="0"/>
          <p:nvPr/>
        </p:nvPicPr>
        <p:blipFill rotWithShape="1">
          <a:blip r:embed="rId7">
            <a:alphaModFix/>
          </a:blip>
          <a:srcRect b="0" l="0" r="0" t="0"/>
          <a:stretch/>
        </p:blipFill>
        <p:spPr>
          <a:xfrm>
            <a:off x="138793" y="2075762"/>
            <a:ext cx="396000" cy="396000"/>
          </a:xfrm>
          <a:prstGeom prst="rect">
            <a:avLst/>
          </a:prstGeom>
          <a:noFill/>
          <a:ln>
            <a:noFill/>
          </a:ln>
        </p:spPr>
      </p:pic>
      <p:pic>
        <p:nvPicPr>
          <p:cNvPr descr="A couple of people sitting at a table&#10;&#10;AI-generated content may be incorrect." id="107" name="Google Shape;107;p1"/>
          <p:cNvPicPr preferRelativeResize="0"/>
          <p:nvPr/>
        </p:nvPicPr>
        <p:blipFill rotWithShape="1">
          <a:blip r:embed="rId8">
            <a:alphaModFix/>
          </a:blip>
          <a:srcRect b="0" l="0" r="0" t="0"/>
          <a:stretch/>
        </p:blipFill>
        <p:spPr>
          <a:xfrm>
            <a:off x="6458854" y="4444430"/>
            <a:ext cx="396000" cy="396000"/>
          </a:xfrm>
          <a:prstGeom prst="rect">
            <a:avLst/>
          </a:prstGeom>
          <a:noFill/>
          <a:ln>
            <a:noFill/>
          </a:ln>
        </p:spPr>
      </p:pic>
      <p:sp>
        <p:nvSpPr>
          <p:cNvPr id="108" name="Google Shape;108;p1"/>
          <p:cNvSpPr txBox="1"/>
          <p:nvPr/>
        </p:nvSpPr>
        <p:spPr>
          <a:xfrm>
            <a:off x="471875" y="917949"/>
            <a:ext cx="11392800" cy="107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F5C99"/>
                </a:solidFill>
                <a:latin typeface="Times New Roman"/>
                <a:ea typeface="Times New Roman"/>
                <a:cs typeface="Times New Roman"/>
                <a:sym typeface="Times New Roman"/>
              </a:rPr>
              <a:t>Milestone Objective: </a:t>
            </a:r>
            <a:r>
              <a:rPr lang="en-US" sz="1600">
                <a:solidFill>
                  <a:schemeClr val="dk1"/>
                </a:solidFill>
                <a:latin typeface="Times New Roman"/>
                <a:ea typeface="Times New Roman"/>
                <a:cs typeface="Times New Roman"/>
                <a:sym typeface="Times New Roman"/>
              </a:rPr>
              <a:t>PRISM delivers an integrated credit intelligence platform that validates documents, detects fraud, and generates explainable risk scores, addressing trust and reliability gaps in digital lending. It benefits lenders by improving decision confidence and borrowers by enabling fairer credit access.</a:t>
            </a:r>
            <a:endParaRPr sz="16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cxnSp>
        <p:nvCxnSpPr>
          <p:cNvPr id="109" name="Google Shape;109;p1"/>
          <p:cNvCxnSpPr/>
          <p:nvPr/>
        </p:nvCxnSpPr>
        <p:spPr>
          <a:xfrm>
            <a:off x="405314" y="890820"/>
            <a:ext cx="11640073" cy="0"/>
          </a:xfrm>
          <a:prstGeom prst="straightConnector1">
            <a:avLst/>
          </a:prstGeom>
          <a:noFill/>
          <a:ln cap="flat" cmpd="sng" w="19050">
            <a:solidFill>
              <a:schemeClr val="dk1"/>
            </a:solidFill>
            <a:prstDash val="solid"/>
            <a:miter lim="800000"/>
            <a:headEnd len="sm" w="sm" type="none"/>
            <a:tailEnd len="sm" w="sm" type="none"/>
          </a:ln>
        </p:spPr>
      </p:cxnSp>
      <p:pic>
        <p:nvPicPr>
          <p:cNvPr id="110" name="Google Shape;110;p1"/>
          <p:cNvPicPr preferRelativeResize="0"/>
          <p:nvPr/>
        </p:nvPicPr>
        <p:blipFill rotWithShape="1">
          <a:blip r:embed="rId9">
            <a:alphaModFix/>
          </a:blip>
          <a:srcRect b="0" l="0" r="0" t="0"/>
          <a:stretch/>
        </p:blipFill>
        <p:spPr>
          <a:xfrm>
            <a:off x="70367" y="4902067"/>
            <a:ext cx="396000" cy="396000"/>
          </a:xfrm>
          <a:prstGeom prst="rect">
            <a:avLst/>
          </a:prstGeom>
          <a:noFill/>
          <a:ln>
            <a:noFill/>
          </a:ln>
        </p:spPr>
      </p:pic>
      <p:pic>
        <p:nvPicPr>
          <p:cNvPr id="111" name="Google Shape;111;p1"/>
          <p:cNvPicPr preferRelativeResize="0"/>
          <p:nvPr/>
        </p:nvPicPr>
        <p:blipFill rotWithShape="1">
          <a:blip r:embed="rId10">
            <a:alphaModFix/>
          </a:blip>
          <a:srcRect b="0" l="0" r="0" t="0"/>
          <a:stretch/>
        </p:blipFill>
        <p:spPr>
          <a:xfrm>
            <a:off x="6448129" y="5544534"/>
            <a:ext cx="396000" cy="396000"/>
          </a:xfrm>
          <a:prstGeom prst="rect">
            <a:avLst/>
          </a:prstGeom>
          <a:noFill/>
          <a:ln>
            <a:noFill/>
          </a:ln>
        </p:spPr>
      </p:pic>
      <p:sp>
        <p:nvSpPr>
          <p:cNvPr id="112" name="Google Shape;112;p1"/>
          <p:cNvSpPr txBox="1"/>
          <p:nvPr/>
        </p:nvSpPr>
        <p:spPr>
          <a:xfrm>
            <a:off x="7123531" y="6134647"/>
            <a:ext cx="4232400" cy="344400"/>
          </a:xfrm>
          <a:prstGeom prst="rect">
            <a:avLst/>
          </a:prstGeom>
          <a:noFill/>
          <a:ln>
            <a:noFill/>
          </a:ln>
        </p:spPr>
        <p:txBody>
          <a:bodyPr anchorCtr="0" anchor="t" bIns="60925" lIns="121900" spcFirstLastPara="1" rIns="121900" wrap="square" tIns="60925">
            <a:noAutofit/>
          </a:bodyPr>
          <a:lstStyle/>
          <a:p>
            <a:pPr indent="0" lvl="0" marL="16932" marR="0" rtl="0" algn="just">
              <a:lnSpc>
                <a:spcPct val="100000"/>
              </a:lnSpc>
              <a:spcBef>
                <a:spcPts val="0"/>
              </a:spcBef>
              <a:spcAft>
                <a:spcPts val="0"/>
              </a:spcAft>
              <a:buClr>
                <a:srgbClr val="000000"/>
              </a:buClr>
              <a:buSzPts val="1200"/>
              <a:buFont typeface="Arial"/>
              <a:buNone/>
            </a:pPr>
            <a:r>
              <a:rPr b="1" i="0" lang="en-US" sz="1400" u="none" cap="none" strike="noStrike">
                <a:solidFill>
                  <a:srgbClr val="1F5C99"/>
                </a:solidFill>
                <a:latin typeface="Times New Roman"/>
                <a:ea typeface="Times New Roman"/>
                <a:cs typeface="Times New Roman"/>
                <a:sym typeface="Times New Roman"/>
              </a:rPr>
              <a:t>Demo Links</a:t>
            </a:r>
            <a:r>
              <a:rPr b="0" i="0" lang="en-US" sz="1400" u="none" cap="none" strike="noStrike">
                <a:solidFill>
                  <a:srgbClr val="000000"/>
                </a:solidFill>
                <a:latin typeface="Times New Roman"/>
                <a:ea typeface="Times New Roman"/>
                <a:cs typeface="Times New Roman"/>
                <a:sym typeface="Times New Roman"/>
              </a:rPr>
              <a:t>:</a:t>
            </a:r>
            <a:endParaRPr/>
          </a:p>
          <a:p>
            <a:pPr indent="0" lvl="0" marL="16932" marR="0" rtl="0" algn="just">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pic>
        <p:nvPicPr>
          <p:cNvPr id="113" name="Google Shape;113;p1"/>
          <p:cNvPicPr preferRelativeResize="0"/>
          <p:nvPr/>
        </p:nvPicPr>
        <p:blipFill rotWithShape="1">
          <a:blip r:embed="rId11">
            <a:alphaModFix/>
          </a:blip>
          <a:srcRect b="0" l="0" r="0" t="0"/>
          <a:stretch/>
        </p:blipFill>
        <p:spPr>
          <a:xfrm>
            <a:off x="6453501" y="6249161"/>
            <a:ext cx="396000" cy="396000"/>
          </a:xfrm>
          <a:prstGeom prst="rect">
            <a:avLst/>
          </a:prstGeom>
          <a:noFill/>
          <a:ln>
            <a:noFill/>
          </a:ln>
        </p:spPr>
      </p:pic>
      <p:sp>
        <p:nvSpPr>
          <p:cNvPr id="114" name="Google Shape;114;p1"/>
          <p:cNvSpPr txBox="1"/>
          <p:nvPr/>
        </p:nvSpPr>
        <p:spPr>
          <a:xfrm>
            <a:off x="7104704" y="5641334"/>
            <a:ext cx="4232400" cy="344400"/>
          </a:xfrm>
          <a:prstGeom prst="rect">
            <a:avLst/>
          </a:prstGeom>
          <a:noFill/>
          <a:ln>
            <a:noFill/>
          </a:ln>
        </p:spPr>
        <p:txBody>
          <a:bodyPr anchorCtr="0" anchor="t" bIns="60925" lIns="121900" spcFirstLastPara="1" rIns="121900" wrap="square" tIns="60925">
            <a:noAutofit/>
          </a:bodyPr>
          <a:lstStyle/>
          <a:p>
            <a:pPr indent="0" lvl="0" marL="16932" marR="0" rtl="0" algn="just">
              <a:lnSpc>
                <a:spcPct val="100000"/>
              </a:lnSpc>
              <a:spcBef>
                <a:spcPts val="0"/>
              </a:spcBef>
              <a:spcAft>
                <a:spcPts val="0"/>
              </a:spcAft>
              <a:buClr>
                <a:srgbClr val="000000"/>
              </a:buClr>
              <a:buSzPts val="1200"/>
              <a:buFont typeface="Arial"/>
              <a:buNone/>
            </a:pPr>
            <a:r>
              <a:rPr b="1" i="0" lang="en-US" sz="1400" u="none" cap="none" strike="noStrike">
                <a:solidFill>
                  <a:srgbClr val="1F5C99"/>
                </a:solidFill>
                <a:latin typeface="Times New Roman"/>
                <a:ea typeface="Times New Roman"/>
                <a:cs typeface="Times New Roman"/>
                <a:sym typeface="Times New Roman"/>
              </a:rPr>
              <a:t>GithubLinks</a:t>
            </a:r>
            <a:r>
              <a:rPr b="0" i="0" lang="en-US" sz="1400" u="none" cap="none" strike="noStrike">
                <a:solidFill>
                  <a:srgbClr val="000000"/>
                </a:solidFill>
                <a:latin typeface="Times New Roman"/>
                <a:ea typeface="Times New Roman"/>
                <a:cs typeface="Times New Roman"/>
                <a:sym typeface="Times New Roman"/>
              </a:rPr>
              <a:t>:  </a:t>
            </a:r>
            <a:r>
              <a:rPr b="0" i="0" lang="en-US" sz="1400" u="sng" cap="none" strike="noStrike">
                <a:solidFill>
                  <a:schemeClr val="hlink"/>
                </a:solidFill>
                <a:latin typeface="Times New Roman"/>
                <a:ea typeface="Times New Roman"/>
                <a:cs typeface="Times New Roman"/>
                <a:sym typeface="Times New Roman"/>
                <a:hlinkClick r:id="rId12"/>
              </a:rPr>
              <a:t>https://github.com/thecamouflagedgeek/PRISM.git</a:t>
            </a:r>
            <a:endParaRPr b="0" i="0" sz="1400" u="none" cap="none" strike="noStrike">
              <a:solidFill>
                <a:srgbClr val="000000"/>
              </a:solidFill>
              <a:latin typeface="Times New Roman"/>
              <a:ea typeface="Times New Roman"/>
              <a:cs typeface="Times New Roman"/>
              <a:sym typeface="Times New Roman"/>
            </a:endParaRPr>
          </a:p>
          <a:p>
            <a:pPr indent="0" lvl="0" marL="16932" marR="0" rtl="0" algn="just">
              <a:lnSpc>
                <a:spcPct val="100000"/>
              </a:lnSpc>
              <a:spcBef>
                <a:spcPts val="0"/>
              </a:spcBef>
              <a:spcAft>
                <a:spcPts val="0"/>
              </a:spcAft>
              <a:buClr>
                <a:srgbClr val="000000"/>
              </a:buClr>
              <a:buSzPts val="1200"/>
              <a:buFont typeface="Arial"/>
              <a:buNone/>
            </a:pPr>
            <a:r>
              <a:t/>
            </a:r>
            <a:endParaRPr>
              <a:latin typeface="Times New Roman"/>
              <a:ea typeface="Times New Roman"/>
              <a:cs typeface="Times New Roman"/>
              <a:sym typeface="Times New Roman"/>
            </a:endParaRPr>
          </a:p>
          <a:p>
            <a:pPr indent="0" lvl="0" marL="16932" marR="0" rtl="0" algn="just">
              <a:lnSpc>
                <a:spcPct val="100000"/>
              </a:lnSpc>
              <a:spcBef>
                <a:spcPts val="0"/>
              </a:spcBef>
              <a:spcAft>
                <a:spcPts val="0"/>
              </a:spcAft>
              <a:buClr>
                <a:srgbClr val="000000"/>
              </a:buClr>
              <a:buSzPts val="1200"/>
              <a:buFont typeface="Arial"/>
              <a:buNone/>
            </a:pPr>
            <a:r>
              <a:rPr lang="en-US" sz="1200" u="sng">
                <a:solidFill>
                  <a:schemeClr val="hlink"/>
                </a:solidFill>
                <a:latin typeface="Times New Roman"/>
                <a:ea typeface="Times New Roman"/>
                <a:cs typeface="Times New Roman"/>
                <a:sym typeface="Times New Roman"/>
                <a:hlinkClick r:id="rId13"/>
              </a:rPr>
              <a:t>https://prism-backend-4mfu.onrender.com/</a:t>
            </a:r>
            <a:endParaRPr sz="1200">
              <a:latin typeface="Times New Roman"/>
              <a:ea typeface="Times New Roman"/>
              <a:cs typeface="Times New Roman"/>
              <a:sym typeface="Times New Roman"/>
            </a:endParaRPr>
          </a:p>
          <a:p>
            <a:pPr indent="0" lvl="0" marL="16932" marR="0" rtl="0" algn="just">
              <a:lnSpc>
                <a:spcPct val="100000"/>
              </a:lnSpc>
              <a:spcBef>
                <a:spcPts val="0"/>
              </a:spcBef>
              <a:spcAft>
                <a:spcPts val="0"/>
              </a:spcAft>
              <a:buClr>
                <a:srgbClr val="000000"/>
              </a:buClr>
              <a:buSzPts val="1200"/>
              <a:buFont typeface="Arial"/>
              <a:buNone/>
            </a:pPr>
            <a:r>
              <a:rPr lang="en-US" sz="1000" u="sng">
                <a:solidFill>
                  <a:schemeClr val="hlink"/>
                </a:solidFill>
                <a:latin typeface="Times New Roman"/>
                <a:ea typeface="Times New Roman"/>
                <a:cs typeface="Times New Roman"/>
                <a:sym typeface="Times New Roman"/>
                <a:hlinkClick r:id="rId14"/>
              </a:rPr>
              <a:t>https://drive.google.com/drive/folders/1Bp1R5hF3XBrDEYBXEWciUBfmwXX_oJC9</a:t>
            </a:r>
            <a:r>
              <a:rPr lang="en-US" sz="1000">
                <a:latin typeface="Times New Roman"/>
                <a:ea typeface="Times New Roman"/>
                <a:cs typeface="Times New Roman"/>
                <a:sym typeface="Times New Roman"/>
              </a:rPr>
              <a:t> </a:t>
            </a:r>
            <a:endParaRPr sz="1000">
              <a:latin typeface="Times New Roman"/>
              <a:ea typeface="Times New Roman"/>
              <a:cs typeface="Times New Roman"/>
              <a:sym typeface="Times New Roman"/>
            </a:endParaRPr>
          </a:p>
          <a:p>
            <a:pPr indent="0" lvl="0" marL="16932" marR="0" rtl="0" algn="just">
              <a:lnSpc>
                <a:spcPct val="100000"/>
              </a:lnSpc>
              <a:spcBef>
                <a:spcPts val="0"/>
              </a:spcBef>
              <a:spcAft>
                <a:spcPts val="0"/>
              </a:spcAft>
              <a:buClr>
                <a:srgbClr val="000000"/>
              </a:buClr>
              <a:buSzPts val="1200"/>
              <a:buFont typeface="Arial"/>
              <a:buNone/>
            </a:pPr>
            <a:r>
              <a:t/>
            </a:r>
            <a:endParaRPr>
              <a:latin typeface="Times New Roman"/>
              <a:ea typeface="Times New Roman"/>
              <a:cs typeface="Times New Roman"/>
              <a:sym typeface="Times New Roman"/>
            </a:endParaRPr>
          </a:p>
          <a:p>
            <a:pPr indent="0" lvl="0" marL="16932" marR="0" rtl="0" algn="just">
              <a:lnSpc>
                <a:spcPct val="100000"/>
              </a:lnSpc>
              <a:spcBef>
                <a:spcPts val="0"/>
              </a:spcBef>
              <a:spcAft>
                <a:spcPts val="0"/>
              </a:spcAft>
              <a:buClr>
                <a:srgbClr val="000000"/>
              </a:buClr>
              <a:buSzPts val="1200"/>
              <a:buFont typeface="Arial"/>
              <a:buNone/>
            </a:pPr>
            <a:r>
              <a:t/>
            </a:r>
            <a:endParaRPr>
              <a:latin typeface="Times New Roman"/>
              <a:ea typeface="Times New Roman"/>
              <a:cs typeface="Times New Roman"/>
              <a:sym typeface="Times New Roman"/>
            </a:endParaRPr>
          </a:p>
        </p:txBody>
      </p:sp>
      <p:pic>
        <p:nvPicPr>
          <p:cNvPr id="115" name="Google Shape;115;p1"/>
          <p:cNvPicPr preferRelativeResize="0"/>
          <p:nvPr/>
        </p:nvPicPr>
        <p:blipFill rotWithShape="1">
          <a:blip r:embed="rId15">
            <a:alphaModFix/>
          </a:blip>
          <a:srcRect b="0" l="0" r="0" t="0"/>
          <a:stretch/>
        </p:blipFill>
        <p:spPr>
          <a:xfrm>
            <a:off x="138793" y="5732070"/>
            <a:ext cx="396000" cy="396000"/>
          </a:xfrm>
          <a:prstGeom prst="rect">
            <a:avLst/>
          </a:prstGeom>
          <a:noFill/>
          <a:ln>
            <a:noFill/>
          </a:ln>
        </p:spPr>
      </p:pic>
      <p:sp>
        <p:nvSpPr>
          <p:cNvPr id="116" name="Google Shape;116;p1"/>
          <p:cNvSpPr txBox="1"/>
          <p:nvPr/>
        </p:nvSpPr>
        <p:spPr>
          <a:xfrm>
            <a:off x="0" y="477912"/>
            <a:ext cx="12192000" cy="492600"/>
          </a:xfrm>
          <a:prstGeom prst="rect">
            <a:avLst/>
          </a:prstGeom>
          <a:noFill/>
          <a:ln>
            <a:noFill/>
          </a:ln>
        </p:spPr>
        <p:txBody>
          <a:bodyPr anchorCtr="0" anchor="t" bIns="121900" lIns="121900" spcFirstLastPara="1" rIns="121900" wrap="square" tIns="121900">
            <a:spAutoFit/>
          </a:bodyPr>
          <a:lstStyle/>
          <a:p>
            <a:pPr indent="0" lvl="0" marL="0" marR="0" rtl="0" algn="ctr">
              <a:spcBef>
                <a:spcPts val="0"/>
              </a:spcBef>
              <a:spcAft>
                <a:spcPts val="0"/>
              </a:spcAft>
              <a:buNone/>
            </a:pPr>
            <a:r>
              <a:rPr b="1" lang="en-US" sz="1600">
                <a:solidFill>
                  <a:srgbClr val="1F5C99"/>
                </a:solidFill>
                <a:latin typeface="Times New Roman"/>
                <a:ea typeface="Times New Roman"/>
                <a:cs typeface="Times New Roman"/>
                <a:sym typeface="Times New Roman"/>
              </a:rPr>
              <a:t>Starting TRL: </a:t>
            </a:r>
            <a:r>
              <a:rPr b="1" lang="en-US" sz="1600">
                <a:solidFill>
                  <a:srgbClr val="3F3F3F"/>
                </a:solidFill>
                <a:latin typeface="Times New Roman"/>
                <a:ea typeface="Times New Roman"/>
                <a:cs typeface="Times New Roman"/>
                <a:sym typeface="Times New Roman"/>
              </a:rPr>
              <a:t>(March - TRL 3)</a:t>
            </a:r>
            <a:r>
              <a:rPr b="1" lang="en-US" sz="1600">
                <a:solidFill>
                  <a:schemeClr val="dk1"/>
                </a:solidFill>
                <a:latin typeface="Times New Roman"/>
                <a:ea typeface="Times New Roman"/>
                <a:cs typeface="Times New Roman"/>
                <a:sym typeface="Times New Roman"/>
              </a:rPr>
              <a:t> || </a:t>
            </a:r>
            <a:r>
              <a:rPr b="1" lang="en-US" sz="1600">
                <a:solidFill>
                  <a:srgbClr val="1F5C99"/>
                </a:solidFill>
                <a:latin typeface="Times New Roman"/>
                <a:ea typeface="Times New Roman"/>
                <a:cs typeface="Times New Roman"/>
                <a:sym typeface="Times New Roman"/>
              </a:rPr>
              <a:t>Current TRL: </a:t>
            </a:r>
            <a:r>
              <a:rPr b="1" lang="en-US" sz="1600">
                <a:solidFill>
                  <a:schemeClr val="dk1"/>
                </a:solidFill>
                <a:latin typeface="Times New Roman"/>
                <a:ea typeface="Times New Roman"/>
                <a:cs typeface="Times New Roman"/>
                <a:sym typeface="Times New Roman"/>
              </a:rPr>
              <a:t>3</a:t>
            </a:r>
            <a:r>
              <a:rPr b="1" lang="en-US" sz="1600">
                <a:solidFill>
                  <a:schemeClr val="dk1"/>
                </a:solidFill>
                <a:latin typeface="Times New Roman"/>
                <a:ea typeface="Times New Roman"/>
                <a:cs typeface="Times New Roman"/>
                <a:sym typeface="Times New Roman"/>
              </a:rPr>
              <a:t> || </a:t>
            </a:r>
            <a:r>
              <a:rPr b="1" lang="en-US" sz="1600">
                <a:solidFill>
                  <a:srgbClr val="1F5C99"/>
                </a:solidFill>
                <a:latin typeface="Times New Roman"/>
                <a:ea typeface="Times New Roman"/>
                <a:cs typeface="Times New Roman"/>
                <a:sym typeface="Times New Roman"/>
              </a:rPr>
              <a:t>Target TRL: </a:t>
            </a:r>
            <a:r>
              <a:rPr b="1" lang="en-US" sz="1600">
                <a:solidFill>
                  <a:schemeClr val="dk1"/>
                </a:solidFill>
                <a:latin typeface="Times New Roman"/>
                <a:ea typeface="Times New Roman"/>
                <a:cs typeface="Times New Roman"/>
                <a:sym typeface="Times New Roman"/>
              </a:rPr>
              <a:t>4</a:t>
            </a:r>
            <a:r>
              <a:rPr b="1" lang="en-US" sz="1600">
                <a:solidFill>
                  <a:schemeClr val="dk1"/>
                </a:solidFill>
                <a:latin typeface="Times New Roman"/>
                <a:ea typeface="Times New Roman"/>
                <a:cs typeface="Times New Roman"/>
                <a:sym typeface="Times New Roman"/>
              </a:rPr>
              <a:t> </a:t>
            </a:r>
            <a:r>
              <a:rPr b="1" lang="en-US" sz="1600">
                <a:solidFill>
                  <a:srgbClr val="3F3F3F"/>
                </a:solidFill>
                <a:latin typeface="Times New Roman"/>
                <a:ea typeface="Times New Roman"/>
                <a:cs typeface="Times New Roman"/>
                <a:sym typeface="Times New Roman"/>
              </a:rPr>
              <a:t>(December-2026)</a:t>
            </a:r>
            <a:r>
              <a:rPr b="1" lang="en-US" sz="1600">
                <a:solidFill>
                  <a:schemeClr val="dk1"/>
                </a:solidFill>
                <a:latin typeface="Times New Roman"/>
                <a:ea typeface="Times New Roman"/>
                <a:cs typeface="Times New Roman"/>
                <a:sym typeface="Times New Roman"/>
              </a:rPr>
              <a:t> || </a:t>
            </a:r>
            <a:r>
              <a:rPr b="1" lang="en-US" sz="1600">
                <a:solidFill>
                  <a:srgbClr val="1F5C99"/>
                </a:solidFill>
                <a:latin typeface="Times New Roman"/>
                <a:ea typeface="Times New Roman"/>
                <a:cs typeface="Times New Roman"/>
                <a:sym typeface="Times New Roman"/>
              </a:rPr>
              <a:t>Overall Project Status: </a:t>
            </a:r>
            <a:endParaRPr b="1" sz="1600">
              <a:solidFill>
                <a:srgbClr val="000000"/>
              </a:solidFill>
              <a:latin typeface="Times New Roman"/>
              <a:ea typeface="Times New Roman"/>
              <a:cs typeface="Times New Roman"/>
              <a:sym typeface="Times New Roman"/>
            </a:endParaRPr>
          </a:p>
        </p:txBody>
      </p:sp>
      <p:cxnSp>
        <p:nvCxnSpPr>
          <p:cNvPr id="117" name="Google Shape;117;p1"/>
          <p:cNvCxnSpPr/>
          <p:nvPr/>
        </p:nvCxnSpPr>
        <p:spPr>
          <a:xfrm>
            <a:off x="495727" y="1817920"/>
            <a:ext cx="11640000" cy="0"/>
          </a:xfrm>
          <a:prstGeom prst="straightConnector1">
            <a:avLst/>
          </a:prstGeom>
          <a:noFill/>
          <a:ln cap="flat" cmpd="sng" w="19050">
            <a:solidFill>
              <a:schemeClr val="dk1"/>
            </a:solidFill>
            <a:prstDash val="solid"/>
            <a:miter lim="800000"/>
            <a:headEnd len="sm" w="sm" type="none"/>
            <a:tailEnd len="sm" w="sm" type="none"/>
          </a:ln>
        </p:spPr>
      </p:cxnSp>
      <p:sp>
        <p:nvSpPr>
          <p:cNvPr id="118" name="Google Shape;118;p1"/>
          <p:cNvSpPr/>
          <p:nvPr/>
        </p:nvSpPr>
        <p:spPr>
          <a:xfrm>
            <a:off x="10973826" y="564185"/>
            <a:ext cx="252900" cy="239700"/>
          </a:xfrm>
          <a:prstGeom prst="ellipse">
            <a:avLst/>
          </a:prstGeom>
          <a:solidFill>
            <a:srgbClr val="B3E5A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95959"/>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2026-01-12T08:43:54Z</dcterms:created>
  <dc:creator>Gaurav Seshan</dc:creator>
</cp:coreProperties>
</file>