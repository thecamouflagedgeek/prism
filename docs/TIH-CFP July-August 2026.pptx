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Lst>
  <p:sldSz cy="6858000" cx="12192000"/>
  <p:notesSz cx="6858000" cy="9144000"/>
  <p:embeddedFontLst>
    <p:embeddedFont>
      <p:font typeface="Play"/>
      <p:regular r:id="rId6"/>
      <p:bold r:id="rId7"/>
    </p:embeddedFont>
    <p:embeddedFont>
      <p:font typeface="Montserrat"/>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2" roundtripDataSignature="AMtx7mhHwA79vDU2nsUIwUR8DthnOxH8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Montserrat-boldItalic.fntdata"/><Relationship Id="rId10" Type="http://schemas.openxmlformats.org/officeDocument/2006/relationships/font" Target="fonts/Montserrat-italic.fntdata"/><Relationship Id="rId12" Type="http://customschemas.google.com/relationships/presentationmetadata" Target="meta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font" Target="fonts/Montserrat-bold.fntdata"/><Relationship Id="rId5" Type="http://schemas.openxmlformats.org/officeDocument/2006/relationships/slide" Target="slides/slide1.xml"/><Relationship Id="rId6" Type="http://schemas.openxmlformats.org/officeDocument/2006/relationships/font" Target="fonts/Play-regular.fntdata"/><Relationship Id="rId7" Type="http://schemas.openxmlformats.org/officeDocument/2006/relationships/font" Target="fonts/Play-bold.fntdata"/><Relationship Id="rId8" Type="http://schemas.openxmlformats.org/officeDocument/2006/relationships/font" Target="fonts/Montserrat-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91" name="Google Shape;9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 name="Shape 16"/>
        <p:cNvGrpSpPr/>
        <p:nvPr/>
      </p:nvGrpSpPr>
      <p:grpSpPr>
        <a:xfrm>
          <a:off x="0" y="0"/>
          <a:ext cx="0" cy="0"/>
          <a:chOff x="0" y="0"/>
          <a:chExt cx="0" cy="0"/>
        </a:xfrm>
      </p:grpSpPr>
      <p:sp>
        <p:nvSpPr>
          <p:cNvPr id="17" name="Google Shape;17;p3"/>
          <p:cNvSpPr/>
          <p:nvPr/>
        </p:nvSpPr>
        <p:spPr>
          <a:xfrm>
            <a:off x="12638620" y="690565"/>
            <a:ext cx="92389" cy="415444"/>
          </a:xfrm>
          <a:prstGeom prst="rect">
            <a:avLst/>
          </a:prstGeom>
          <a:noFill/>
          <a:ln>
            <a:noFill/>
          </a:ln>
        </p:spPr>
        <p:txBody>
          <a:bodyPr anchorCtr="0" anchor="t" bIns="22825" lIns="45700" spcFirstLastPara="1" rIns="45700" wrap="square" tIns="228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2400" u="none" cap="none" strike="noStrike">
              <a:solidFill>
                <a:srgbClr val="000000"/>
              </a:solidFill>
              <a:latin typeface="Arial"/>
              <a:ea typeface="Arial"/>
              <a:cs typeface="Arial"/>
              <a:sym typeface="Arial"/>
            </a:endParaRPr>
          </a:p>
        </p:txBody>
      </p:sp>
      <p:sp>
        <p:nvSpPr>
          <p:cNvPr id="18" name="Google Shape;18;p3"/>
          <p:cNvSpPr txBox="1"/>
          <p:nvPr>
            <p:ph idx="1" type="body"/>
          </p:nvPr>
        </p:nvSpPr>
        <p:spPr>
          <a:xfrm>
            <a:off x="438151" y="960439"/>
            <a:ext cx="10671175" cy="4854575"/>
          </a:xfrm>
          <a:prstGeom prst="rect">
            <a:avLst/>
          </a:prstGeom>
          <a:noFill/>
          <a:ln>
            <a:noFill/>
          </a:ln>
        </p:spPr>
        <p:txBody>
          <a:bodyPr anchorCtr="0" anchor="t" bIns="45700" lIns="91425" spcFirstLastPara="1" rIns="91425" wrap="square" tIns="45700">
            <a:noAutofit/>
          </a:bodyPr>
          <a:lstStyle>
            <a:lvl1pPr indent="-317500" lvl="0" marL="4572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1pPr>
            <a:lvl2pPr indent="-317500" lvl="1" marL="9144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2pPr>
            <a:lvl3pPr indent="-317500" lvl="2" marL="13716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3pPr>
            <a:lvl4pPr indent="-317500" lvl="3" marL="18288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4pPr>
            <a:lvl5pPr indent="-317500" lvl="4" marL="2286000" marR="0" algn="l">
              <a:lnSpc>
                <a:spcPct val="100000"/>
              </a:lnSpc>
              <a:spcBef>
                <a:spcPts val="0"/>
              </a:spcBef>
              <a:spcAft>
                <a:spcPts val="0"/>
              </a:spcAft>
              <a:buClr>
                <a:srgbClr val="000000"/>
              </a:buClr>
              <a:buSzPts val="1400"/>
              <a:buFont typeface="Arial"/>
              <a:buChar char="•"/>
              <a:defRPr b="0" i="0" sz="1867" u="none" cap="none" strike="noStrike">
                <a:solidFill>
                  <a:srgbClr val="000000"/>
                </a:solidFill>
                <a:latin typeface="Arial"/>
                <a:ea typeface="Arial"/>
                <a:cs typeface="Arial"/>
                <a:sym typeface="Arial"/>
              </a:defRPr>
            </a:lvl5pPr>
            <a:lvl6pPr indent="-228600" lvl="5" marL="27432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indent="-228600" lvl="6" marL="32004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indent="-228600" lvl="7" marL="36576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indent="-228600" lvl="8" marL="4114800"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
        <p:nvSpPr>
          <p:cNvPr id="19" name="Google Shape;19;p3"/>
          <p:cNvSpPr txBox="1"/>
          <p:nvPr>
            <p:ph type="title"/>
          </p:nvPr>
        </p:nvSpPr>
        <p:spPr>
          <a:xfrm>
            <a:off x="1076915" y="98171"/>
            <a:ext cx="10104400" cy="483148"/>
          </a:xfrm>
          <a:prstGeom prst="rect">
            <a:avLst/>
          </a:prstGeom>
          <a:noFill/>
          <a:ln>
            <a:noFill/>
          </a:ln>
        </p:spPr>
        <p:txBody>
          <a:bodyPr anchorCtr="0" anchor="ctr" bIns="60950" lIns="121900" spcFirstLastPara="1" rIns="121900" wrap="square" tIns="60950">
            <a:noAutofit/>
          </a:bodyPr>
          <a:lstStyle>
            <a:lvl1pPr lvl="0" marR="0" algn="l">
              <a:lnSpc>
                <a:spcPct val="100000"/>
              </a:lnSpc>
              <a:spcBef>
                <a:spcPts val="0"/>
              </a:spcBef>
              <a:spcAft>
                <a:spcPts val="0"/>
              </a:spcAft>
              <a:buClr>
                <a:srgbClr val="000000"/>
              </a:buClr>
              <a:buSzPts val="1400"/>
              <a:buFont typeface="Arial"/>
              <a:buNone/>
              <a:defRPr b="1" i="0" sz="3733" u="none" cap="none" strike="noStrike">
                <a:solidFill>
                  <a:srgbClr val="F59222"/>
                </a:solidFill>
                <a:latin typeface="Montserrat"/>
                <a:ea typeface="Montserrat"/>
                <a:cs typeface="Montserrat"/>
                <a:sym typeface="Montserrat"/>
              </a:defRPr>
            </a:lvl1pPr>
            <a:lvl2pPr lvl="1"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67"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type="title">
  <p:cSld name="TITLE">
    <p:spTree>
      <p:nvGrpSpPr>
        <p:cNvPr id="20" name="Shape 20"/>
        <p:cNvGrpSpPr/>
        <p:nvPr/>
      </p:nvGrpSpPr>
      <p:grpSpPr>
        <a:xfrm>
          <a:off x="0" y="0"/>
          <a:ext cx="0" cy="0"/>
          <a:chOff x="0" y="0"/>
          <a:chExt cx="0" cy="0"/>
        </a:xfrm>
      </p:grpSpPr>
      <p:sp>
        <p:nvSpPr>
          <p:cNvPr id="21" name="Google Shape;21;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3" name="Google Shape;23;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5" name="Google Shape;35;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3" name="Shape 63"/>
        <p:cNvGrpSpPr/>
        <p:nvPr/>
      </p:nvGrpSpPr>
      <p:grpSpPr>
        <a:xfrm>
          <a:off x="0" y="0"/>
          <a:ext cx="0" cy="0"/>
          <a:chOff x="0" y="0"/>
          <a:chExt cx="0" cy="0"/>
        </a:xfrm>
      </p:grpSpPr>
      <p:sp>
        <p:nvSpPr>
          <p:cNvPr id="64" name="Google Shape;64;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6" name="Google Shape;66;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0" name="Shape 70"/>
        <p:cNvGrpSpPr/>
        <p:nvPr/>
      </p:nvGrpSpPr>
      <p:grpSpPr>
        <a:xfrm>
          <a:off x="0" y="0"/>
          <a:ext cx="0" cy="0"/>
          <a:chOff x="0" y="0"/>
          <a:chExt cx="0" cy="0"/>
        </a:xfrm>
      </p:grpSpPr>
      <p:sp>
        <p:nvSpPr>
          <p:cNvPr id="71" name="Google Shape;7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p:nvPr>
            <p:ph idx="2" type="pic"/>
          </p:nvPr>
        </p:nvSpPr>
        <p:spPr>
          <a:xfrm>
            <a:off x="5183188" y="987425"/>
            <a:ext cx="6172200" cy="4873625"/>
          </a:xfrm>
          <a:prstGeom prst="rect">
            <a:avLst/>
          </a:prstGeom>
          <a:noFill/>
          <a:ln>
            <a:noFill/>
          </a:ln>
        </p:spPr>
      </p:sp>
      <p:sp>
        <p:nvSpPr>
          <p:cNvPr id="73" name="Google Shape;73;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 name="Google Shape;7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3" name="Shape 83"/>
        <p:cNvGrpSpPr/>
        <p:nvPr/>
      </p:nvGrpSpPr>
      <p:grpSpPr>
        <a:xfrm>
          <a:off x="0" y="0"/>
          <a:ext cx="0" cy="0"/>
          <a:chOff x="0" y="0"/>
          <a:chExt cx="0" cy="0"/>
        </a:xfrm>
      </p:grpSpPr>
      <p:sp>
        <p:nvSpPr>
          <p:cNvPr id="84" name="Google Shape;84;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blue and orange logo&#10;&#10;AI-generated content may be incorrect." id="15" name="Google Shape;15;p2"/>
          <p:cNvPicPr preferRelativeResize="0"/>
          <p:nvPr/>
        </p:nvPicPr>
        <p:blipFill rotWithShape="1">
          <a:blip r:embed="rId1">
            <a:alphaModFix/>
          </a:blip>
          <a:srcRect b="0" l="0" r="0" t="0"/>
          <a:stretch/>
        </p:blipFill>
        <p:spPr>
          <a:xfrm>
            <a:off x="11479607" y="7817"/>
            <a:ext cx="685680" cy="70261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3.png"/><Relationship Id="rId13" Type="http://schemas.openxmlformats.org/officeDocument/2006/relationships/hyperlink" Target="https://prism-backend-4mfu.onrender.com/" TargetMode="External"/><Relationship Id="rId12" Type="http://schemas.openxmlformats.org/officeDocument/2006/relationships/hyperlink" Target="https://github.com/thecamouflagedgeek/PRISM.git"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6.png"/><Relationship Id="rId15" Type="http://schemas.openxmlformats.org/officeDocument/2006/relationships/image" Target="../media/image11.png"/><Relationship Id="rId14" Type="http://schemas.openxmlformats.org/officeDocument/2006/relationships/hyperlink" Target="https://drive.google.com/drive/folders/1Bp1R5hF3XBrDEYBXEWciUBfmwXX_oJC9" TargetMode="External"/><Relationship Id="rId5" Type="http://schemas.openxmlformats.org/officeDocument/2006/relationships/image" Target="../media/image5.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
          <p:cNvSpPr txBox="1"/>
          <p:nvPr>
            <p:ph type="title"/>
          </p:nvPr>
        </p:nvSpPr>
        <p:spPr>
          <a:xfrm>
            <a:off x="-619364" y="-171841"/>
            <a:ext cx="12192000" cy="483200"/>
          </a:xfrm>
          <a:prstGeom prst="rect">
            <a:avLst/>
          </a:prstGeom>
          <a:noFill/>
          <a:ln>
            <a:noFill/>
          </a:ln>
        </p:spPr>
        <p:txBody>
          <a:bodyPr anchorCtr="0" anchor="ctr" bIns="81250" lIns="162525" spcFirstLastPara="1" rIns="162525" wrap="square" tIns="81250">
            <a:noAutofit/>
          </a:bodyPr>
          <a:lstStyle/>
          <a:p>
            <a:pPr indent="0" lvl="0" marL="0" rtl="0" algn="ctr">
              <a:lnSpc>
                <a:spcPct val="100000"/>
              </a:lnSpc>
              <a:spcBef>
                <a:spcPts val="0"/>
              </a:spcBef>
              <a:spcAft>
                <a:spcPts val="0"/>
              </a:spcAft>
              <a:buSzPts val="1400"/>
              <a:buNone/>
            </a:pPr>
            <a:r>
              <a:rPr lang="en-US" sz="1600">
                <a:solidFill>
                  <a:srgbClr val="002060"/>
                </a:solidFill>
                <a:latin typeface="Times New Roman"/>
                <a:ea typeface="Times New Roman"/>
                <a:cs typeface="Times New Roman"/>
                <a:sym typeface="Times New Roman"/>
              </a:rPr>
              <a:t> </a:t>
            </a:r>
            <a:br>
              <a:rPr lang="en-US" sz="1600">
                <a:solidFill>
                  <a:srgbClr val="002060"/>
                </a:solidFill>
                <a:latin typeface="Times New Roman"/>
                <a:ea typeface="Times New Roman"/>
                <a:cs typeface="Times New Roman"/>
                <a:sym typeface="Times New Roman"/>
              </a:rPr>
            </a:br>
            <a:br>
              <a:rPr lang="en-US" sz="1600">
                <a:solidFill>
                  <a:srgbClr val="4892DC"/>
                </a:solidFill>
                <a:latin typeface="Times New Roman"/>
                <a:ea typeface="Times New Roman"/>
                <a:cs typeface="Times New Roman"/>
                <a:sym typeface="Times New Roman"/>
              </a:rPr>
            </a:br>
            <a:r>
              <a:rPr lang="en-US" sz="1600">
                <a:solidFill>
                  <a:srgbClr val="1F5C99"/>
                </a:solidFill>
                <a:latin typeface="Times New Roman"/>
                <a:ea typeface="Times New Roman"/>
                <a:cs typeface="Times New Roman"/>
                <a:sym typeface="Times New Roman"/>
              </a:rPr>
              <a:t>PROJECT Name  : </a:t>
            </a:r>
            <a:r>
              <a:rPr lang="en-US" sz="1600">
                <a:latin typeface="Times New Roman"/>
                <a:ea typeface="Times New Roman"/>
                <a:cs typeface="Times New Roman"/>
                <a:sym typeface="Times New Roman"/>
              </a:rPr>
              <a:t>PRISM [ Predictive Risk Insights &amp; Scoring Model]</a:t>
            </a:r>
            <a:br>
              <a:rPr lang="en-US" sz="1600">
                <a:solidFill>
                  <a:srgbClr val="1F5C99"/>
                </a:solidFill>
                <a:latin typeface="Times New Roman"/>
                <a:ea typeface="Times New Roman"/>
                <a:cs typeface="Times New Roman"/>
                <a:sym typeface="Times New Roman"/>
              </a:rPr>
            </a:br>
            <a:r>
              <a:rPr lang="en-US" sz="1600">
                <a:solidFill>
                  <a:srgbClr val="002060"/>
                </a:solidFill>
                <a:latin typeface="Times New Roman"/>
                <a:ea typeface="Times New Roman"/>
                <a:cs typeface="Times New Roman"/>
                <a:sym typeface="Times New Roman"/>
              </a:rPr>
              <a:t> </a:t>
            </a:r>
            <a:endParaRPr/>
          </a:p>
        </p:txBody>
      </p:sp>
      <p:cxnSp>
        <p:nvCxnSpPr>
          <p:cNvPr id="94" name="Google Shape;94;p1"/>
          <p:cNvCxnSpPr/>
          <p:nvPr/>
        </p:nvCxnSpPr>
        <p:spPr>
          <a:xfrm flipH="1">
            <a:off x="6157079" y="1388640"/>
            <a:ext cx="22400" cy="5470800"/>
          </a:xfrm>
          <a:prstGeom prst="straightConnector1">
            <a:avLst/>
          </a:prstGeom>
          <a:noFill/>
          <a:ln cap="flat" cmpd="sng" w="19050">
            <a:solidFill>
              <a:schemeClr val="lt1"/>
            </a:solidFill>
            <a:prstDash val="solid"/>
            <a:round/>
            <a:headEnd len="med" w="med" type="oval"/>
            <a:tailEnd len="med" w="med" type="oval"/>
          </a:ln>
        </p:spPr>
      </p:cxnSp>
      <p:cxnSp>
        <p:nvCxnSpPr>
          <p:cNvPr id="95" name="Google Shape;95;p1"/>
          <p:cNvCxnSpPr/>
          <p:nvPr/>
        </p:nvCxnSpPr>
        <p:spPr>
          <a:xfrm>
            <a:off x="174587" y="3879575"/>
            <a:ext cx="11870800" cy="0"/>
          </a:xfrm>
          <a:prstGeom prst="straightConnector1">
            <a:avLst/>
          </a:prstGeom>
          <a:noFill/>
          <a:ln cap="flat" cmpd="sng" w="19050">
            <a:solidFill>
              <a:schemeClr val="lt1"/>
            </a:solidFill>
            <a:prstDash val="solid"/>
            <a:round/>
            <a:headEnd len="med" w="med" type="oval"/>
            <a:tailEnd len="med" w="med" type="oval"/>
          </a:ln>
        </p:spPr>
      </p:cxnSp>
      <p:sp>
        <p:nvSpPr>
          <p:cNvPr id="96" name="Google Shape;96;p1"/>
          <p:cNvSpPr/>
          <p:nvPr/>
        </p:nvSpPr>
        <p:spPr>
          <a:xfrm>
            <a:off x="525383" y="1092437"/>
            <a:ext cx="52332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Objective</a:t>
            </a:r>
            <a:endParaRPr b="0" i="0" sz="1867" u="none" cap="none" strike="noStrike">
              <a:solidFill>
                <a:srgbClr val="000000"/>
              </a:solidFill>
              <a:latin typeface="Times New Roman"/>
              <a:ea typeface="Times New Roman"/>
              <a:cs typeface="Times New Roman"/>
              <a:sym typeface="Times New Roman"/>
            </a:endParaRPr>
          </a:p>
        </p:txBody>
      </p:sp>
      <p:sp>
        <p:nvSpPr>
          <p:cNvPr id="97" name="Google Shape;97;p1"/>
          <p:cNvSpPr/>
          <p:nvPr/>
        </p:nvSpPr>
        <p:spPr>
          <a:xfrm>
            <a:off x="6187449" y="1192755"/>
            <a:ext cx="5811400" cy="522967"/>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Times New Roman"/>
                <a:ea typeface="Times New Roman"/>
                <a:cs typeface="Times New Roman"/>
                <a:sym typeface="Times New Roman"/>
              </a:rPr>
              <a:t>Key Deliverables in Nov-Dec 2025</a:t>
            </a:r>
            <a:endParaRPr b="0" i="0" sz="2000" u="none" cap="none" strike="noStrike">
              <a:solidFill>
                <a:schemeClr val="lt1"/>
              </a:solidFill>
              <a:latin typeface="Times New Roman"/>
              <a:ea typeface="Times New Roman"/>
              <a:cs typeface="Times New Roman"/>
              <a:sym typeface="Times New Roman"/>
            </a:endParaRPr>
          </a:p>
        </p:txBody>
      </p:sp>
      <p:sp>
        <p:nvSpPr>
          <p:cNvPr id="98" name="Google Shape;98;p1"/>
          <p:cNvSpPr/>
          <p:nvPr/>
        </p:nvSpPr>
        <p:spPr>
          <a:xfrm>
            <a:off x="358776" y="3878704"/>
            <a:ext cx="5558400" cy="483200"/>
          </a:xfrm>
          <a:prstGeom prst="rect">
            <a:avLst/>
          </a:prstGeom>
          <a:no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133"/>
              <a:buFont typeface="Arial"/>
              <a:buNone/>
            </a:pPr>
            <a:r>
              <a:rPr b="1" i="0" lang="en-US" sz="2133" u="none" cap="none" strike="noStrike">
                <a:solidFill>
                  <a:schemeClr val="lt1"/>
                </a:solidFill>
                <a:latin typeface="Times New Roman"/>
                <a:ea typeface="Times New Roman"/>
                <a:cs typeface="Times New Roman"/>
                <a:sym typeface="Times New Roman"/>
              </a:rPr>
              <a:t>Plan for next 2 month</a:t>
            </a:r>
            <a:endParaRPr b="0" i="0" sz="1867" u="none" cap="none" strike="noStrike">
              <a:solidFill>
                <a:srgbClr val="000000"/>
              </a:solidFill>
              <a:latin typeface="Times New Roman"/>
              <a:ea typeface="Times New Roman"/>
              <a:cs typeface="Times New Roman"/>
              <a:sym typeface="Times New Roman"/>
            </a:endParaRPr>
          </a:p>
        </p:txBody>
      </p:sp>
      <p:sp>
        <p:nvSpPr>
          <p:cNvPr id="99" name="Google Shape;99;p1"/>
          <p:cNvSpPr txBox="1"/>
          <p:nvPr>
            <p:ph idx="1" type="body"/>
          </p:nvPr>
        </p:nvSpPr>
        <p:spPr>
          <a:xfrm>
            <a:off x="466375" y="1920125"/>
            <a:ext cx="6434700" cy="4635600"/>
          </a:xfrm>
          <a:prstGeom prst="rect">
            <a:avLst/>
          </a:prstGeom>
          <a:noFill/>
          <a:ln>
            <a:noFill/>
          </a:ln>
        </p:spPr>
        <p:txBody>
          <a:bodyPr anchorCtr="0" anchor="t" bIns="60925" lIns="121900" spcFirstLastPara="1" rIns="121900" wrap="square" tIns="60925">
            <a:noAutofit/>
          </a:bodyPr>
          <a:lstStyle/>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Business Value &amp; Game changers: </a:t>
            </a:r>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Automation:</a:t>
            </a:r>
            <a:r>
              <a:rPr lang="en-US" sz="1200">
                <a:solidFill>
                  <a:schemeClr val="dk1"/>
                </a:solidFill>
                <a:latin typeface="Times New Roman"/>
                <a:ea typeface="Times New Roman"/>
                <a:cs typeface="Times New Roman"/>
                <a:sym typeface="Times New Roman"/>
              </a:rPr>
              <a:t> OTP authentication and automated document lifecycle reduce manual onboarding.</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Speed:</a:t>
            </a:r>
            <a:r>
              <a:rPr lang="en-US" sz="1200">
                <a:solidFill>
                  <a:schemeClr val="dk1"/>
                </a:solidFill>
                <a:latin typeface="Times New Roman"/>
                <a:ea typeface="Times New Roman"/>
                <a:cs typeface="Times New Roman"/>
                <a:sym typeface="Times New Roman"/>
              </a:rPr>
              <a:t> Real-time credit scoring through live backend and database integration.</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Security: </a:t>
            </a:r>
            <a:r>
              <a:rPr lang="en-US" sz="1200">
                <a:solidFill>
                  <a:schemeClr val="dk1"/>
                </a:solidFill>
                <a:latin typeface="Times New Roman"/>
                <a:ea typeface="Times New Roman"/>
                <a:cs typeface="Times New Roman"/>
                <a:sym typeface="Times New Roman"/>
              </a:rPr>
              <a:t>Session management and multi-document consent collection improve data handling.</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Reliability:</a:t>
            </a:r>
            <a:r>
              <a:rPr lang="en-US" sz="1200">
                <a:solidFill>
                  <a:schemeClr val="dk1"/>
                </a:solidFill>
                <a:latin typeface="Times New Roman"/>
                <a:ea typeface="Times New Roman"/>
                <a:cs typeface="Times New Roman"/>
                <a:sym typeface="Times New Roman"/>
              </a:rPr>
              <a:t> Missingness-aware binning ensures stable outputs even with incomplete uploads.</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Scalability:</a:t>
            </a:r>
            <a:r>
              <a:rPr lang="en-US" sz="1200">
                <a:solidFill>
                  <a:schemeClr val="dk1"/>
                </a:solidFill>
                <a:latin typeface="Times New Roman"/>
                <a:ea typeface="Times New Roman"/>
                <a:cs typeface="Times New Roman"/>
                <a:sym typeface="Times New Roman"/>
              </a:rPr>
              <a:t> Database schema supports multi-source feature persistence and user tracking.</a:t>
            </a:r>
            <a:endParaRPr sz="12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SzPts val="1400"/>
              <a:buNone/>
            </a:pPr>
            <a:r>
              <a:rPr b="1" lang="en-US" sz="1200">
                <a:solidFill>
                  <a:schemeClr val="dk1"/>
                </a:solidFill>
                <a:latin typeface="Times New Roman"/>
                <a:ea typeface="Times New Roman"/>
                <a:cs typeface="Times New Roman"/>
                <a:sym typeface="Times New Roman"/>
              </a:rPr>
              <a:t>Production Readiness:</a:t>
            </a:r>
            <a:r>
              <a:rPr lang="en-US" sz="1200">
                <a:solidFill>
                  <a:schemeClr val="dk1"/>
                </a:solidFill>
                <a:latin typeface="Times New Roman"/>
                <a:ea typeface="Times New Roman"/>
                <a:cs typeface="Times New Roman"/>
                <a:sym typeface="Times New Roman"/>
              </a:rPr>
              <a:t> Production-oriented authentication and scoring aligned with fintech systems.</a:t>
            </a:r>
            <a:endParaRPr sz="1200">
              <a:solidFill>
                <a:schemeClr val="dk1"/>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t/>
            </a:r>
            <a:endParaRPr b="1" sz="1400">
              <a:solidFill>
                <a:srgbClr val="1F5C99"/>
              </a:solidFill>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Key Accomplishments |  : July 2026 </a:t>
            </a:r>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Implemented OTP-based mobile authentication module integrated with PostgreSQL.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Retrained WoE binning and Logistic Regression pipeline to handle document missingness.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Integrated dynamic OCR status tracking (UPLOADED, OCR_COMPLETED, FAILED) in database.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Validated scoring model with real-world Bank of Baroda statement via /assess endpoint.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Incorporated SHAP explainability to generate feature importance and reason codes.</a:t>
            </a:r>
            <a:endParaRPr sz="12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rPr b="1" lang="en-US" sz="1400">
                <a:solidFill>
                  <a:srgbClr val="1F5C99"/>
                </a:solidFill>
                <a:latin typeface="Times New Roman"/>
                <a:ea typeface="Times New Roman"/>
                <a:cs typeface="Times New Roman"/>
                <a:sym typeface="Times New Roman"/>
              </a:rPr>
              <a:t>Reusable Assets/Solutions/Opportunities:</a:t>
            </a:r>
            <a:r>
              <a:rPr b="1" lang="en-US" sz="1300">
                <a:solidFill>
                  <a:srgbClr val="1F5C99"/>
                </a:solidFill>
                <a:latin typeface="Times New Roman"/>
                <a:ea typeface="Times New Roman"/>
                <a:cs typeface="Times New Roman"/>
                <a:sym typeface="Times New Roman"/>
              </a:rPr>
              <a:t> </a:t>
            </a:r>
            <a:r>
              <a:rPr b="1" lang="en-US" sz="1300">
                <a:solidFill>
                  <a:schemeClr val="dk1"/>
                </a:solidFill>
                <a:latin typeface="Times New Roman"/>
                <a:ea typeface="Times New Roman"/>
                <a:cs typeface="Times New Roman"/>
                <a:sym typeface="Times New Roman"/>
              </a:rPr>
              <a:t>Yes. </a:t>
            </a:r>
            <a:r>
              <a:rPr lang="en-US" sz="1300">
                <a:solidFill>
                  <a:schemeClr val="dk1"/>
                </a:solidFill>
                <a:latin typeface="Times New Roman"/>
                <a:ea typeface="Times New Roman"/>
                <a:cs typeface="Times New Roman"/>
                <a:sym typeface="Times New Roman"/>
              </a:rPr>
              <a:t>These include auth endpoints, missingness-aware binning models, retrained LR artifacts, and SHAP wrappers.</a:t>
            </a:r>
            <a:endParaRPr sz="1300">
              <a:latin typeface="Times New Roman"/>
              <a:ea typeface="Times New Roman"/>
              <a:cs typeface="Times New Roman"/>
              <a:sym typeface="Times New Roman"/>
            </a:endParaRPr>
          </a:p>
          <a:p>
            <a:pPr indent="0" lvl="0" marL="0" rtl="0" algn="just">
              <a:lnSpc>
                <a:spcPct val="100000"/>
              </a:lnSpc>
              <a:spcBef>
                <a:spcPts val="0"/>
              </a:spcBef>
              <a:spcAft>
                <a:spcPts val="0"/>
              </a:spcAft>
              <a:buSzPts val="1200"/>
              <a:buNone/>
            </a:pPr>
            <a:r>
              <a:t/>
            </a:r>
            <a:endParaRPr sz="1400">
              <a:latin typeface="Times New Roman"/>
              <a:ea typeface="Times New Roman"/>
              <a:cs typeface="Times New Roman"/>
              <a:sym typeface="Times New Roman"/>
            </a:endParaRPr>
          </a:p>
          <a:p>
            <a:pPr indent="0" lvl="0" marL="16932" rtl="0" algn="just">
              <a:lnSpc>
                <a:spcPct val="100000"/>
              </a:lnSpc>
              <a:spcBef>
                <a:spcPts val="0"/>
              </a:spcBef>
              <a:spcAft>
                <a:spcPts val="0"/>
              </a:spcAft>
              <a:buSzPts val="1200"/>
              <a:buNone/>
            </a:pPr>
            <a:r>
              <a:rPr b="1" lang="en-US" sz="1400">
                <a:solidFill>
                  <a:srgbClr val="1F5C99"/>
                </a:solidFill>
                <a:latin typeface="Times New Roman"/>
                <a:ea typeface="Times New Roman"/>
                <a:cs typeface="Times New Roman"/>
                <a:sym typeface="Times New Roman"/>
              </a:rPr>
              <a:t>Upcoming Milestone: </a:t>
            </a:r>
            <a:r>
              <a:rPr b="1" lang="en-US" sz="1400">
                <a:solidFill>
                  <a:srgbClr val="1F5C99"/>
                </a:solidFill>
                <a:latin typeface="Times New Roman"/>
                <a:ea typeface="Times New Roman"/>
                <a:cs typeface="Times New Roman"/>
                <a:sym typeface="Times New Roman"/>
              </a:rPr>
              <a:t>Explainability &amp; Risk Persistence</a:t>
            </a:r>
            <a:endParaRPr b="1" sz="1400">
              <a:solidFill>
                <a:srgbClr val="1F5C99"/>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Implement rule-based explanation logic and UI/API reason code displays.</a:t>
            </a:r>
            <a:endParaRPr sz="1300">
              <a:solidFill>
                <a:schemeClr val="dk1"/>
              </a:solidFill>
              <a:latin typeface="Times New Roman"/>
              <a:ea typeface="Times New Roman"/>
              <a:cs typeface="Times New Roman"/>
              <a:sym typeface="Times New Roman"/>
            </a:endParaRPr>
          </a:p>
          <a:p>
            <a:pPr indent="-285750" lvl="0" marL="457200" rtl="0" algn="l">
              <a:lnSpc>
                <a:spcPct val="115000"/>
              </a:lnSpc>
              <a:spcBef>
                <a:spcPts val="0"/>
              </a:spcBef>
              <a:spcAft>
                <a:spcPts val="0"/>
              </a:spcAft>
              <a:buClr>
                <a:schemeClr val="dk1"/>
              </a:buClr>
              <a:buSzPts val="900"/>
              <a:buChar char="●"/>
            </a:pPr>
            <a:r>
              <a:rPr lang="en-US" sz="1300">
                <a:solidFill>
                  <a:schemeClr val="dk1"/>
                </a:solidFill>
                <a:latin typeface="Times New Roman"/>
                <a:ea typeface="Times New Roman"/>
                <a:cs typeface="Times New Roman"/>
                <a:sym typeface="Times New Roman"/>
              </a:rPr>
              <a:t>Connect backend to risk_scores table and validation/audit logging.</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SzPts val="1400"/>
              <a:buNone/>
            </a:pPr>
            <a:r>
              <a:t/>
            </a:r>
            <a:endParaRPr sz="1300">
              <a:solidFill>
                <a:schemeClr val="dk1"/>
              </a:solidFill>
              <a:latin typeface="Times New Roman"/>
              <a:ea typeface="Times New Roman"/>
              <a:cs typeface="Times New Roman"/>
              <a:sym typeface="Times New Roman"/>
            </a:endParaRPr>
          </a:p>
          <a:p>
            <a:pPr indent="0" lvl="0" marL="457200" rtl="0" algn="l">
              <a:lnSpc>
                <a:spcPct val="115000"/>
              </a:lnSpc>
              <a:spcBef>
                <a:spcPts val="1200"/>
              </a:spcBef>
              <a:spcAft>
                <a:spcPts val="0"/>
              </a:spcAft>
              <a:buSzPts val="1400"/>
              <a:buNone/>
            </a:pPr>
            <a:r>
              <a:t/>
            </a:r>
            <a:endParaRPr b="1" sz="1200">
              <a:solidFill>
                <a:schemeClr val="dk1"/>
              </a:solidFill>
              <a:latin typeface="Times New Roman"/>
              <a:ea typeface="Times New Roman"/>
              <a:cs typeface="Times New Roman"/>
              <a:sym typeface="Times New Roman"/>
            </a:endParaRPr>
          </a:p>
          <a:p>
            <a:pPr indent="0" lvl="0" marL="16932" rtl="0" algn="just">
              <a:lnSpc>
                <a:spcPct val="100000"/>
              </a:lnSpc>
              <a:spcBef>
                <a:spcPts val="1200"/>
              </a:spcBef>
              <a:spcAft>
                <a:spcPts val="0"/>
              </a:spcAft>
              <a:buSzPts val="1200"/>
              <a:buNone/>
            </a:pPr>
            <a:r>
              <a:t/>
            </a:r>
            <a:endParaRPr b="1" sz="1400">
              <a:solidFill>
                <a:srgbClr val="1F5C99"/>
              </a:solidFill>
              <a:latin typeface="Times New Roman"/>
              <a:ea typeface="Times New Roman"/>
              <a:cs typeface="Times New Roman"/>
              <a:sym typeface="Times New Roman"/>
            </a:endParaRPr>
          </a:p>
        </p:txBody>
      </p:sp>
      <p:sp>
        <p:nvSpPr>
          <p:cNvPr id="100" name="Google Shape;100;p1"/>
          <p:cNvSpPr txBox="1"/>
          <p:nvPr/>
        </p:nvSpPr>
        <p:spPr>
          <a:xfrm>
            <a:off x="-538375" y="205268"/>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Domain: </a:t>
            </a:r>
            <a:r>
              <a:rPr b="1" i="0" lang="en-US" sz="1600" u="none" cap="none" strike="noStrike">
                <a:solidFill>
                  <a:schemeClr val="dk1"/>
                </a:solidFill>
                <a:latin typeface="Times New Roman"/>
                <a:ea typeface="Times New Roman"/>
                <a:cs typeface="Times New Roman"/>
                <a:sym typeface="Times New Roman"/>
              </a:rPr>
              <a:t>Insurance/Fintech || </a:t>
            </a:r>
            <a:r>
              <a:rPr b="1" i="0" lang="en-US" sz="1600" u="none" cap="none" strike="noStrike">
                <a:solidFill>
                  <a:srgbClr val="1F5C99"/>
                </a:solidFill>
                <a:latin typeface="Times New Roman"/>
                <a:ea typeface="Times New Roman"/>
                <a:cs typeface="Times New Roman"/>
                <a:sym typeface="Times New Roman"/>
              </a:rPr>
              <a:t>Team: </a:t>
            </a:r>
            <a:r>
              <a:rPr b="1" i="0" lang="en-US" sz="1600" u="none" cap="none" strike="noStrike">
                <a:solidFill>
                  <a:schemeClr val="dk1"/>
                </a:solidFill>
                <a:latin typeface="Times New Roman"/>
                <a:ea typeface="Times New Roman"/>
                <a:cs typeface="Times New Roman"/>
                <a:sym typeface="Times New Roman"/>
              </a:rPr>
              <a:t>Hazel Sequeira, Freia Quadros</a:t>
            </a:r>
            <a:endParaRPr b="1" i="0" sz="1600" u="none" cap="none" strike="noStrike">
              <a:solidFill>
                <a:srgbClr val="000000"/>
              </a:solidFill>
              <a:latin typeface="Times New Roman"/>
              <a:ea typeface="Times New Roman"/>
              <a:cs typeface="Times New Roman"/>
              <a:sym typeface="Times New Roman"/>
            </a:endParaRPr>
          </a:p>
        </p:txBody>
      </p:sp>
      <p:pic>
        <p:nvPicPr>
          <p:cNvPr descr="A red and white target with a yellow arrow&#10;&#10;AI-generated content may be incorrect." id="101" name="Google Shape;101;p1"/>
          <p:cNvPicPr preferRelativeResize="0"/>
          <p:nvPr/>
        </p:nvPicPr>
        <p:blipFill rotWithShape="1">
          <a:blip r:embed="rId3">
            <a:alphaModFix/>
          </a:blip>
          <a:srcRect b="0" l="0" r="0" t="0"/>
          <a:stretch/>
        </p:blipFill>
        <p:spPr>
          <a:xfrm>
            <a:off x="70378" y="1136037"/>
            <a:ext cx="396000" cy="396000"/>
          </a:xfrm>
          <a:prstGeom prst="rect">
            <a:avLst/>
          </a:prstGeom>
          <a:noFill/>
          <a:ln>
            <a:noFill/>
          </a:ln>
        </p:spPr>
      </p:pic>
      <p:pic>
        <p:nvPicPr>
          <p:cNvPr descr="A group of people with arms up and a star above them&#10;&#10;AI-generated content may be incorrect." id="102" name="Google Shape;102;p1"/>
          <p:cNvPicPr preferRelativeResize="0"/>
          <p:nvPr/>
        </p:nvPicPr>
        <p:blipFill rotWithShape="1">
          <a:blip r:embed="rId4">
            <a:alphaModFix/>
          </a:blip>
          <a:srcRect b="0" l="0" r="0" t="0"/>
          <a:stretch/>
        </p:blipFill>
        <p:spPr>
          <a:xfrm>
            <a:off x="70376" y="3577032"/>
            <a:ext cx="396000" cy="396000"/>
          </a:xfrm>
          <a:prstGeom prst="rect">
            <a:avLst/>
          </a:prstGeom>
          <a:noFill/>
          <a:ln>
            <a:noFill/>
          </a:ln>
        </p:spPr>
      </p:pic>
      <p:pic>
        <p:nvPicPr>
          <p:cNvPr descr="A handshake with a tick and a white cloud&#10;&#10;AI-generated content may be incorrect." id="103" name="Google Shape;103;p1"/>
          <p:cNvPicPr preferRelativeResize="0"/>
          <p:nvPr/>
        </p:nvPicPr>
        <p:blipFill rotWithShape="1">
          <a:blip r:embed="rId5">
            <a:alphaModFix/>
          </a:blip>
          <a:srcRect b="0" l="0" r="0" t="0"/>
          <a:stretch/>
        </p:blipFill>
        <p:spPr>
          <a:xfrm>
            <a:off x="6458854" y="2060295"/>
            <a:ext cx="396000" cy="396000"/>
          </a:xfrm>
          <a:prstGeom prst="rect">
            <a:avLst/>
          </a:prstGeom>
          <a:noFill/>
          <a:ln>
            <a:noFill/>
          </a:ln>
        </p:spPr>
      </p:pic>
      <p:pic>
        <p:nvPicPr>
          <p:cNvPr descr="A person holding a paper plane&#10;&#10;AI-generated content may be incorrect." id="104" name="Google Shape;104;p1"/>
          <p:cNvPicPr preferRelativeResize="0"/>
          <p:nvPr/>
        </p:nvPicPr>
        <p:blipFill rotWithShape="1">
          <a:blip r:embed="rId6">
            <a:alphaModFix/>
          </a:blip>
          <a:srcRect b="0" l="0" r="0" t="0"/>
          <a:stretch/>
        </p:blipFill>
        <p:spPr>
          <a:xfrm>
            <a:off x="6458854" y="3411820"/>
            <a:ext cx="396000" cy="396000"/>
          </a:xfrm>
          <a:prstGeom prst="rect">
            <a:avLst/>
          </a:prstGeom>
          <a:noFill/>
          <a:ln>
            <a:noFill/>
          </a:ln>
        </p:spPr>
      </p:pic>
      <p:sp>
        <p:nvSpPr>
          <p:cNvPr id="105" name="Google Shape;105;p1"/>
          <p:cNvSpPr txBox="1"/>
          <p:nvPr/>
        </p:nvSpPr>
        <p:spPr>
          <a:xfrm>
            <a:off x="7159257" y="1864658"/>
            <a:ext cx="4886100" cy="4121100"/>
          </a:xfrm>
          <a:prstGeom prst="rect">
            <a:avLst/>
          </a:prstGeom>
          <a:noFill/>
          <a:ln>
            <a:noFill/>
          </a:ln>
        </p:spPr>
        <p:txBody>
          <a:bodyPr anchorCtr="0" anchor="t" bIns="60925" lIns="121900" spcFirstLastPara="1" rIns="121900" wrap="square" tIns="60925">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Planned Deliverables (Next one Months):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Implement rule-based explanation logic, API reason code endpoints, and UI integration. Connect PostgreSQL risk score and audit logging tables to complete end-to-end explainability.</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Risks &amp; Challenges:</a:t>
            </a:r>
            <a:endParaRPr b="1" i="0" sz="1400" u="none" cap="none" strike="noStrike">
              <a:solidFill>
                <a:srgbClr val="1F5C99"/>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solidFill>
                  <a:srgbClr val="FF6D6D"/>
                </a:solidFill>
                <a:latin typeface="Times New Roman"/>
                <a:ea typeface="Times New Roman"/>
                <a:cs typeface="Times New Roman"/>
                <a:sym typeface="Times New Roman"/>
              </a:rPr>
              <a:t>Model calibration checks (HL-statistic) show recalibration is required, and synthetic dataset reliance needs multi-bank real data validation.  Document missingness assumptions are based on placeholders and need validation against real borrower submission logs.</a:t>
            </a:r>
            <a:endParaRPr b="0" i="0" sz="1400" u="none" cap="none" strike="noStrike">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6D6D"/>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1F5C99"/>
                </a:solidFill>
                <a:latin typeface="Times New Roman"/>
                <a:ea typeface="Times New Roman"/>
                <a:cs typeface="Times New Roman"/>
                <a:sym typeface="Times New Roman"/>
              </a:rPr>
              <a:t>Feedback &amp; improvements: </a:t>
            </a:r>
            <a:endParaRPr b="0" i="0" sz="1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Suggested improvements include recalibrating probability of default, expanding multi-bank dataset validation, and finalizing risk score persistence and audit logs.</a:t>
            </a:r>
            <a:endParaRPr b="0" i="0" sz="14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a:p>
            <a:pPr indent="-254000" lvl="0" marL="342900" marR="0" rtl="0" algn="l">
              <a:lnSpc>
                <a:spcPct val="100000"/>
              </a:lnSpc>
              <a:spcBef>
                <a:spcPts val="0"/>
              </a:spcBef>
              <a:spcAft>
                <a:spcPts val="0"/>
              </a:spcAft>
              <a:buClr>
                <a:srgbClr val="000000"/>
              </a:buClr>
              <a:buSzPts val="1400"/>
              <a:buFont typeface="Play"/>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descr="A clipboard with a graph on it&#10;&#10;AI-generated content may be incorrect." id="106" name="Google Shape;106;p1"/>
          <p:cNvPicPr preferRelativeResize="0"/>
          <p:nvPr/>
        </p:nvPicPr>
        <p:blipFill rotWithShape="1">
          <a:blip r:embed="rId7">
            <a:alphaModFix/>
          </a:blip>
          <a:srcRect b="0" l="0" r="0" t="0"/>
          <a:stretch/>
        </p:blipFill>
        <p:spPr>
          <a:xfrm>
            <a:off x="70368" y="2035925"/>
            <a:ext cx="396000" cy="396000"/>
          </a:xfrm>
          <a:prstGeom prst="rect">
            <a:avLst/>
          </a:prstGeom>
          <a:noFill/>
          <a:ln>
            <a:noFill/>
          </a:ln>
        </p:spPr>
      </p:pic>
      <p:pic>
        <p:nvPicPr>
          <p:cNvPr descr="A couple of people sitting at a table&#10;&#10;AI-generated content may be incorrect." id="107" name="Google Shape;107;p1"/>
          <p:cNvPicPr preferRelativeResize="0"/>
          <p:nvPr/>
        </p:nvPicPr>
        <p:blipFill rotWithShape="1">
          <a:blip r:embed="rId8">
            <a:alphaModFix/>
          </a:blip>
          <a:srcRect b="0" l="0" r="0" t="0"/>
          <a:stretch/>
        </p:blipFill>
        <p:spPr>
          <a:xfrm>
            <a:off x="6458854" y="4444430"/>
            <a:ext cx="396000" cy="396000"/>
          </a:xfrm>
          <a:prstGeom prst="rect">
            <a:avLst/>
          </a:prstGeom>
          <a:noFill/>
          <a:ln>
            <a:noFill/>
          </a:ln>
        </p:spPr>
      </p:pic>
      <p:sp>
        <p:nvSpPr>
          <p:cNvPr id="108" name="Google Shape;108;p1"/>
          <p:cNvSpPr txBox="1"/>
          <p:nvPr/>
        </p:nvSpPr>
        <p:spPr>
          <a:xfrm>
            <a:off x="471875" y="917949"/>
            <a:ext cx="11392800" cy="107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Milestone Objective: </a:t>
            </a:r>
            <a:r>
              <a:rPr b="0" i="0" lang="en-US" sz="1600" u="none" cap="none" strike="noStrike">
                <a:solidFill>
                  <a:schemeClr val="dk1"/>
                </a:solidFill>
                <a:latin typeface="Times New Roman"/>
                <a:ea typeface="Times New Roman"/>
                <a:cs typeface="Times New Roman"/>
                <a:sym typeface="Times New Roman"/>
              </a:rPr>
              <a:t>PRISM delivers an integrated credit intelligence platform that validates documents, detects fraud, and generates explainable risk scores, addressing trust and reliability gaps in digital lending. It benefits lenders by improving decision confidence and borrowers by enabling fairer credit access.</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p:txBody>
      </p:sp>
      <p:cxnSp>
        <p:nvCxnSpPr>
          <p:cNvPr id="109" name="Google Shape;109;p1"/>
          <p:cNvCxnSpPr/>
          <p:nvPr/>
        </p:nvCxnSpPr>
        <p:spPr>
          <a:xfrm>
            <a:off x="405314" y="890820"/>
            <a:ext cx="11640073" cy="0"/>
          </a:xfrm>
          <a:prstGeom prst="straightConnector1">
            <a:avLst/>
          </a:prstGeom>
          <a:noFill/>
          <a:ln cap="flat" cmpd="sng" w="19050">
            <a:solidFill>
              <a:schemeClr val="dk1"/>
            </a:solidFill>
            <a:prstDash val="solid"/>
            <a:miter lim="80"/>
            <a:headEnd len="sm" w="sm" type="none"/>
            <a:tailEnd len="sm" w="sm" type="none"/>
          </a:ln>
        </p:spPr>
      </p:cxnSp>
      <p:pic>
        <p:nvPicPr>
          <p:cNvPr id="110" name="Google Shape;110;p1"/>
          <p:cNvPicPr preferRelativeResize="0"/>
          <p:nvPr/>
        </p:nvPicPr>
        <p:blipFill rotWithShape="1">
          <a:blip r:embed="rId9">
            <a:alphaModFix/>
          </a:blip>
          <a:srcRect b="0" l="0" r="0" t="0"/>
          <a:stretch/>
        </p:blipFill>
        <p:spPr>
          <a:xfrm>
            <a:off x="70367" y="5245317"/>
            <a:ext cx="396000" cy="396000"/>
          </a:xfrm>
          <a:prstGeom prst="rect">
            <a:avLst/>
          </a:prstGeom>
          <a:noFill/>
          <a:ln>
            <a:noFill/>
          </a:ln>
        </p:spPr>
      </p:pic>
      <p:pic>
        <p:nvPicPr>
          <p:cNvPr id="111" name="Google Shape;111;p1"/>
          <p:cNvPicPr preferRelativeResize="0"/>
          <p:nvPr/>
        </p:nvPicPr>
        <p:blipFill rotWithShape="1">
          <a:blip r:embed="rId10">
            <a:alphaModFix/>
          </a:blip>
          <a:srcRect b="0" l="0" r="0" t="0"/>
          <a:stretch/>
        </p:blipFill>
        <p:spPr>
          <a:xfrm>
            <a:off x="6448129" y="5544534"/>
            <a:ext cx="396000" cy="396000"/>
          </a:xfrm>
          <a:prstGeom prst="rect">
            <a:avLst/>
          </a:prstGeom>
          <a:noFill/>
          <a:ln>
            <a:noFill/>
          </a:ln>
        </p:spPr>
      </p:pic>
      <p:sp>
        <p:nvSpPr>
          <p:cNvPr id="112" name="Google Shape;112;p1"/>
          <p:cNvSpPr txBox="1"/>
          <p:nvPr/>
        </p:nvSpPr>
        <p:spPr>
          <a:xfrm>
            <a:off x="7123531" y="6134647"/>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Demo Links</a:t>
            </a:r>
            <a:r>
              <a:rPr b="0" i="0" lang="en-US" sz="1400" u="none" cap="none" strike="noStrike">
                <a:solidFill>
                  <a:srgbClr val="000000"/>
                </a:solidFill>
                <a:latin typeface="Times New Roman"/>
                <a:ea typeface="Times New Roman"/>
                <a:cs typeface="Times New Roman"/>
                <a:sym typeface="Times New Roman"/>
              </a:rPr>
              <a:t>:</a:t>
            </a:r>
            <a:endParaRPr b="0" i="0" sz="1400" u="none" cap="none" strike="noStrike">
              <a:solidFill>
                <a:srgbClr val="000000"/>
              </a:solidFill>
              <a:latin typeface="Arial"/>
              <a:ea typeface="Arial"/>
              <a:cs typeface="Arial"/>
              <a:sym typeface="Arial"/>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3" name="Google Shape;113;p1"/>
          <p:cNvPicPr preferRelativeResize="0"/>
          <p:nvPr/>
        </p:nvPicPr>
        <p:blipFill rotWithShape="1">
          <a:blip r:embed="rId11">
            <a:alphaModFix/>
          </a:blip>
          <a:srcRect b="0" l="0" r="0" t="0"/>
          <a:stretch/>
        </p:blipFill>
        <p:spPr>
          <a:xfrm>
            <a:off x="6453501" y="6249161"/>
            <a:ext cx="396000" cy="396000"/>
          </a:xfrm>
          <a:prstGeom prst="rect">
            <a:avLst/>
          </a:prstGeom>
          <a:noFill/>
          <a:ln>
            <a:noFill/>
          </a:ln>
        </p:spPr>
      </p:pic>
      <p:sp>
        <p:nvSpPr>
          <p:cNvPr id="114" name="Google Shape;114;p1"/>
          <p:cNvSpPr txBox="1"/>
          <p:nvPr/>
        </p:nvSpPr>
        <p:spPr>
          <a:xfrm>
            <a:off x="7104704" y="5641334"/>
            <a:ext cx="4232400" cy="344400"/>
          </a:xfrm>
          <a:prstGeom prst="rect">
            <a:avLst/>
          </a:prstGeom>
          <a:noFill/>
          <a:ln>
            <a:noFill/>
          </a:ln>
        </p:spPr>
        <p:txBody>
          <a:bodyPr anchorCtr="0" anchor="t" bIns="60925" lIns="121900" spcFirstLastPara="1" rIns="121900" wrap="square" tIns="60925">
            <a:noAutofit/>
          </a:bodyPr>
          <a:lstStyle/>
          <a:p>
            <a:pPr indent="0" lvl="0" marL="16932" marR="0" rtl="0" algn="just">
              <a:lnSpc>
                <a:spcPct val="100000"/>
              </a:lnSpc>
              <a:spcBef>
                <a:spcPts val="0"/>
              </a:spcBef>
              <a:spcAft>
                <a:spcPts val="0"/>
              </a:spcAft>
              <a:buClr>
                <a:srgbClr val="000000"/>
              </a:buClr>
              <a:buSzPts val="1200"/>
              <a:buFont typeface="Arial"/>
              <a:buNone/>
            </a:pPr>
            <a:r>
              <a:rPr b="1" i="0" lang="en-US" sz="1400" u="none" cap="none" strike="noStrike">
                <a:solidFill>
                  <a:srgbClr val="1F5C99"/>
                </a:solidFill>
                <a:latin typeface="Times New Roman"/>
                <a:ea typeface="Times New Roman"/>
                <a:cs typeface="Times New Roman"/>
                <a:sym typeface="Times New Roman"/>
              </a:rPr>
              <a:t>GithubLinks</a:t>
            </a:r>
            <a:r>
              <a:rPr b="0" i="0" lang="en-US" sz="1400" u="none" cap="none" strike="noStrike">
                <a:solidFill>
                  <a:srgbClr val="000000"/>
                </a:solidFill>
                <a:latin typeface="Times New Roman"/>
                <a:ea typeface="Times New Roman"/>
                <a:cs typeface="Times New Roman"/>
                <a:sym typeface="Times New Roman"/>
              </a:rPr>
              <a:t>:  </a:t>
            </a:r>
            <a:r>
              <a:rPr b="0" i="0" lang="en-US" sz="1400" u="sng" cap="none" strike="noStrike">
                <a:solidFill>
                  <a:schemeClr val="hlink"/>
                </a:solidFill>
                <a:latin typeface="Times New Roman"/>
                <a:ea typeface="Times New Roman"/>
                <a:cs typeface="Times New Roman"/>
                <a:sym typeface="Times New Roman"/>
                <a:hlinkClick r:id="rId12"/>
              </a:rPr>
              <a:t>https://github.com/thecamouflagedgeek/PRISM.git</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200" u="sng" cap="none" strike="noStrike">
                <a:solidFill>
                  <a:schemeClr val="hlink"/>
                </a:solidFill>
                <a:latin typeface="Times New Roman"/>
                <a:ea typeface="Times New Roman"/>
                <a:cs typeface="Times New Roman"/>
                <a:sym typeface="Times New Roman"/>
                <a:hlinkClick r:id="rId13"/>
              </a:rPr>
              <a:t>https://prism-backend-4mfu.onrender.com/</a:t>
            </a:r>
            <a:endParaRPr b="0" i="0" sz="12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rPr b="0" i="0" lang="en-US" sz="1000" u="sng" cap="none" strike="noStrike">
                <a:solidFill>
                  <a:schemeClr val="hlink"/>
                </a:solidFill>
                <a:latin typeface="Times New Roman"/>
                <a:ea typeface="Times New Roman"/>
                <a:cs typeface="Times New Roman"/>
                <a:sym typeface="Times New Roman"/>
                <a:hlinkClick r:id="rId14"/>
              </a:rPr>
              <a:t>https://drive.google.com/drive/folders/1Bp1R5hF3XBrDEYBXEWciUBfmwXX_oJC9</a:t>
            </a:r>
            <a:r>
              <a:rPr b="0" i="0" lang="en-US" sz="1000" u="none" cap="none" strike="noStrike">
                <a:solidFill>
                  <a:srgbClr val="000000"/>
                </a:solidFill>
                <a:latin typeface="Times New Roman"/>
                <a:ea typeface="Times New Roman"/>
                <a:cs typeface="Times New Roman"/>
                <a:sym typeface="Times New Roman"/>
              </a:rPr>
              <a:t> </a:t>
            </a:r>
            <a:endParaRPr b="0" i="0" sz="10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0" lvl="0" marL="16932" marR="0" rtl="0" algn="just">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pic>
        <p:nvPicPr>
          <p:cNvPr id="115" name="Google Shape;115;p1"/>
          <p:cNvPicPr preferRelativeResize="0"/>
          <p:nvPr/>
        </p:nvPicPr>
        <p:blipFill rotWithShape="1">
          <a:blip r:embed="rId15">
            <a:alphaModFix/>
          </a:blip>
          <a:srcRect b="0" l="0" r="0" t="0"/>
          <a:stretch/>
        </p:blipFill>
        <p:spPr>
          <a:xfrm>
            <a:off x="138793" y="5732070"/>
            <a:ext cx="396000" cy="396000"/>
          </a:xfrm>
          <a:prstGeom prst="rect">
            <a:avLst/>
          </a:prstGeom>
          <a:noFill/>
          <a:ln>
            <a:noFill/>
          </a:ln>
        </p:spPr>
      </p:pic>
      <p:sp>
        <p:nvSpPr>
          <p:cNvPr id="116" name="Google Shape;116;p1"/>
          <p:cNvSpPr txBox="1"/>
          <p:nvPr/>
        </p:nvSpPr>
        <p:spPr>
          <a:xfrm>
            <a:off x="0" y="477912"/>
            <a:ext cx="12192000" cy="4926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F5C99"/>
                </a:solidFill>
                <a:latin typeface="Times New Roman"/>
                <a:ea typeface="Times New Roman"/>
                <a:cs typeface="Times New Roman"/>
                <a:sym typeface="Times New Roman"/>
              </a:rPr>
              <a:t>Starting TRL: </a:t>
            </a:r>
            <a:r>
              <a:rPr b="1" i="0" lang="en-US" sz="1600" u="none" cap="none" strike="noStrike">
                <a:solidFill>
                  <a:srgbClr val="3F3F3F"/>
                </a:solidFill>
                <a:latin typeface="Times New Roman"/>
                <a:ea typeface="Times New Roman"/>
                <a:cs typeface="Times New Roman"/>
                <a:sym typeface="Times New Roman"/>
              </a:rPr>
              <a:t>(March - TRL 3)</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Current TRL: </a:t>
            </a:r>
            <a:r>
              <a:rPr b="1" i="0" lang="en-US" sz="1600" u="none" cap="none" strike="noStrike">
                <a:solidFill>
                  <a:schemeClr val="dk1"/>
                </a:solidFill>
                <a:latin typeface="Times New Roman"/>
                <a:ea typeface="Times New Roman"/>
                <a:cs typeface="Times New Roman"/>
                <a:sym typeface="Times New Roman"/>
              </a:rPr>
              <a:t>3 || </a:t>
            </a:r>
            <a:r>
              <a:rPr b="1" i="0" lang="en-US" sz="1600" u="none" cap="none" strike="noStrike">
                <a:solidFill>
                  <a:srgbClr val="1F5C99"/>
                </a:solidFill>
                <a:latin typeface="Times New Roman"/>
                <a:ea typeface="Times New Roman"/>
                <a:cs typeface="Times New Roman"/>
                <a:sym typeface="Times New Roman"/>
              </a:rPr>
              <a:t>Target TRL: </a:t>
            </a:r>
            <a:r>
              <a:rPr b="1" i="0" lang="en-US" sz="1600" u="none" cap="none" strike="noStrike">
                <a:solidFill>
                  <a:schemeClr val="dk1"/>
                </a:solidFill>
                <a:latin typeface="Times New Roman"/>
                <a:ea typeface="Times New Roman"/>
                <a:cs typeface="Times New Roman"/>
                <a:sym typeface="Times New Roman"/>
              </a:rPr>
              <a:t>4 </a:t>
            </a:r>
            <a:r>
              <a:rPr b="1" i="0" lang="en-US" sz="1600" u="none" cap="none" strike="noStrike">
                <a:solidFill>
                  <a:srgbClr val="3F3F3F"/>
                </a:solidFill>
                <a:latin typeface="Times New Roman"/>
                <a:ea typeface="Times New Roman"/>
                <a:cs typeface="Times New Roman"/>
                <a:sym typeface="Times New Roman"/>
              </a:rPr>
              <a:t>(December-2026)</a:t>
            </a:r>
            <a:r>
              <a:rPr b="1" i="0" lang="en-US" sz="1600" u="none" cap="none" strike="noStrike">
                <a:solidFill>
                  <a:schemeClr val="dk1"/>
                </a:solidFill>
                <a:latin typeface="Times New Roman"/>
                <a:ea typeface="Times New Roman"/>
                <a:cs typeface="Times New Roman"/>
                <a:sym typeface="Times New Roman"/>
              </a:rPr>
              <a:t> || </a:t>
            </a:r>
            <a:r>
              <a:rPr b="1" i="0" lang="en-US" sz="1600" u="none" cap="none" strike="noStrike">
                <a:solidFill>
                  <a:srgbClr val="1F5C99"/>
                </a:solidFill>
                <a:latin typeface="Times New Roman"/>
                <a:ea typeface="Times New Roman"/>
                <a:cs typeface="Times New Roman"/>
                <a:sym typeface="Times New Roman"/>
              </a:rPr>
              <a:t>Overall Project Status: </a:t>
            </a:r>
            <a:endParaRPr b="1" i="0" sz="1600" u="none" cap="none" strike="noStrike">
              <a:solidFill>
                <a:srgbClr val="000000"/>
              </a:solidFill>
              <a:latin typeface="Times New Roman"/>
              <a:ea typeface="Times New Roman"/>
              <a:cs typeface="Times New Roman"/>
              <a:sym typeface="Times New Roman"/>
            </a:endParaRPr>
          </a:p>
        </p:txBody>
      </p:sp>
      <p:cxnSp>
        <p:nvCxnSpPr>
          <p:cNvPr id="117" name="Google Shape;117;p1"/>
          <p:cNvCxnSpPr/>
          <p:nvPr/>
        </p:nvCxnSpPr>
        <p:spPr>
          <a:xfrm>
            <a:off x="495727" y="1817920"/>
            <a:ext cx="11640000" cy="0"/>
          </a:xfrm>
          <a:prstGeom prst="straightConnector1">
            <a:avLst/>
          </a:prstGeom>
          <a:noFill/>
          <a:ln cap="flat" cmpd="sng" w="19050">
            <a:solidFill>
              <a:schemeClr val="dk1"/>
            </a:solidFill>
            <a:prstDash val="solid"/>
            <a:miter lim="80"/>
            <a:headEnd len="sm" w="sm" type="none"/>
            <a:tailEnd len="sm" w="sm" type="none"/>
          </a:ln>
        </p:spPr>
      </p:cxnSp>
      <p:sp>
        <p:nvSpPr>
          <p:cNvPr id="118" name="Google Shape;118;p1"/>
          <p:cNvSpPr/>
          <p:nvPr/>
        </p:nvSpPr>
        <p:spPr>
          <a:xfrm>
            <a:off x="10973826" y="564185"/>
            <a:ext cx="252900" cy="239700"/>
          </a:xfrm>
          <a:prstGeom prst="ellipse">
            <a:avLst/>
          </a:prstGeom>
          <a:solidFill>
            <a:srgbClr val="B3E5A0"/>
          </a:solidFill>
          <a:ln cap="flat" cmpd="sng" w="19050">
            <a:solidFill>
              <a:srgbClr val="082836"/>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59595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2026-01-12T08:43:54Z</dcterms:created>
  <dc:creator>Gaurav Seshan</dc:creator>
</cp:coreProperties>
</file>