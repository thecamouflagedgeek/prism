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Lst>
  <p:sldSz cy="6858000" cx="12192000"/>
  <p:notesSz cx="6858000" cy="9144000"/>
  <p:embeddedFontLst>
    <p:embeddedFont>
      <p:font typeface="Play"/>
      <p:regular r:id="rId6"/>
      <p:bold r:id="rId7"/>
    </p:embeddedFont>
    <p:embeddedFont>
      <p:font typeface="Montserrat"/>
      <p:regular r:id="rId8"/>
      <p:bold r:id="rId9"/>
      <p:italic r:id="rId10"/>
      <p:boldItalic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2" roundtripDataSignature="AMtx7mjT7j7QinLMgqWpz2Is8SB492St7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font" Target="fonts/Montserrat-boldItalic.fntdata"/><Relationship Id="rId10" Type="http://schemas.openxmlformats.org/officeDocument/2006/relationships/font" Target="fonts/Montserrat-italic.fntdata"/><Relationship Id="rId12" Type="http://customschemas.google.com/relationships/presentationmetadata" Target="meta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Montserrat-bold.fntdata"/><Relationship Id="rId5" Type="http://schemas.openxmlformats.org/officeDocument/2006/relationships/slide" Target="slides/slide1.xml"/><Relationship Id="rId6" Type="http://schemas.openxmlformats.org/officeDocument/2006/relationships/font" Target="fonts/Play-regular.fntdata"/><Relationship Id="rId7" Type="http://schemas.openxmlformats.org/officeDocument/2006/relationships/font" Target="fonts/Play-bold.fntdata"/><Relationship Id="rId8" Type="http://schemas.openxmlformats.org/officeDocument/2006/relationships/font" Target="fonts/Montserra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91" name="Google Shape;9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 name="Shape 16"/>
        <p:cNvGrpSpPr/>
        <p:nvPr/>
      </p:nvGrpSpPr>
      <p:grpSpPr>
        <a:xfrm>
          <a:off x="0" y="0"/>
          <a:ext cx="0" cy="0"/>
          <a:chOff x="0" y="0"/>
          <a:chExt cx="0" cy="0"/>
        </a:xfrm>
      </p:grpSpPr>
      <p:sp>
        <p:nvSpPr>
          <p:cNvPr id="17" name="Google Shape;17;p3"/>
          <p:cNvSpPr/>
          <p:nvPr/>
        </p:nvSpPr>
        <p:spPr>
          <a:xfrm>
            <a:off x="12638620" y="690565"/>
            <a:ext cx="92389" cy="415444"/>
          </a:xfrm>
          <a:prstGeom prst="rect">
            <a:avLst/>
          </a:prstGeom>
          <a:noFill/>
          <a:ln>
            <a:noFill/>
          </a:ln>
        </p:spPr>
        <p:txBody>
          <a:bodyPr anchorCtr="0" anchor="t" bIns="22825" lIns="45700" spcFirstLastPara="1" rIns="45700" wrap="square" tIns="228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2400" u="none" cap="none" strike="noStrike">
              <a:solidFill>
                <a:srgbClr val="000000"/>
              </a:solidFill>
              <a:latin typeface="Arial"/>
              <a:ea typeface="Arial"/>
              <a:cs typeface="Arial"/>
              <a:sym typeface="Arial"/>
            </a:endParaRPr>
          </a:p>
        </p:txBody>
      </p:sp>
      <p:sp>
        <p:nvSpPr>
          <p:cNvPr id="18" name="Google Shape;18;p3"/>
          <p:cNvSpPr txBox="1"/>
          <p:nvPr>
            <p:ph idx="1" type="body"/>
          </p:nvPr>
        </p:nvSpPr>
        <p:spPr>
          <a:xfrm>
            <a:off x="438151" y="960439"/>
            <a:ext cx="10671175" cy="4854575"/>
          </a:xfrm>
          <a:prstGeom prst="rect">
            <a:avLst/>
          </a:prstGeom>
          <a:noFill/>
          <a:ln>
            <a:noFill/>
          </a:ln>
        </p:spPr>
        <p:txBody>
          <a:bodyPr anchorCtr="0" anchor="t" bIns="45700" lIns="91425" spcFirstLastPara="1" rIns="91425" wrap="square" tIns="45700">
            <a:noAutofit/>
          </a:bodyPr>
          <a:lstStyle>
            <a:lvl1pPr indent="-317500" lvl="0" marL="457200" marR="0" algn="l">
              <a:lnSpc>
                <a:spcPct val="100000"/>
              </a:lnSpc>
              <a:spcBef>
                <a:spcPts val="0"/>
              </a:spcBef>
              <a:spcAft>
                <a:spcPts val="0"/>
              </a:spcAft>
              <a:buClr>
                <a:srgbClr val="000000"/>
              </a:buClr>
              <a:buSzPts val="1400"/>
              <a:buFont typeface="Arial"/>
              <a:buChar char="•"/>
              <a:defRPr b="0" i="0" sz="1867" u="none" cap="none" strike="noStrike">
                <a:solidFill>
                  <a:srgbClr val="000000"/>
                </a:solidFill>
                <a:latin typeface="Arial"/>
                <a:ea typeface="Arial"/>
                <a:cs typeface="Arial"/>
                <a:sym typeface="Arial"/>
              </a:defRPr>
            </a:lvl1pPr>
            <a:lvl2pPr indent="-317500" lvl="1" marL="914400" marR="0" algn="l">
              <a:lnSpc>
                <a:spcPct val="100000"/>
              </a:lnSpc>
              <a:spcBef>
                <a:spcPts val="0"/>
              </a:spcBef>
              <a:spcAft>
                <a:spcPts val="0"/>
              </a:spcAft>
              <a:buClr>
                <a:srgbClr val="000000"/>
              </a:buClr>
              <a:buSzPts val="1400"/>
              <a:buFont typeface="Arial"/>
              <a:buChar char="•"/>
              <a:defRPr b="0" i="0" sz="1867" u="none" cap="none" strike="noStrike">
                <a:solidFill>
                  <a:srgbClr val="000000"/>
                </a:solidFill>
                <a:latin typeface="Arial"/>
                <a:ea typeface="Arial"/>
                <a:cs typeface="Arial"/>
                <a:sym typeface="Arial"/>
              </a:defRPr>
            </a:lvl2pPr>
            <a:lvl3pPr indent="-317500" lvl="2" marL="1371600" marR="0" algn="l">
              <a:lnSpc>
                <a:spcPct val="100000"/>
              </a:lnSpc>
              <a:spcBef>
                <a:spcPts val="0"/>
              </a:spcBef>
              <a:spcAft>
                <a:spcPts val="0"/>
              </a:spcAft>
              <a:buClr>
                <a:srgbClr val="000000"/>
              </a:buClr>
              <a:buSzPts val="1400"/>
              <a:buFont typeface="Arial"/>
              <a:buChar char="•"/>
              <a:defRPr b="0" i="0" sz="1867" u="none" cap="none" strike="noStrike">
                <a:solidFill>
                  <a:srgbClr val="000000"/>
                </a:solidFill>
                <a:latin typeface="Arial"/>
                <a:ea typeface="Arial"/>
                <a:cs typeface="Arial"/>
                <a:sym typeface="Arial"/>
              </a:defRPr>
            </a:lvl3pPr>
            <a:lvl4pPr indent="-317500" lvl="3" marL="1828800" marR="0" algn="l">
              <a:lnSpc>
                <a:spcPct val="100000"/>
              </a:lnSpc>
              <a:spcBef>
                <a:spcPts val="0"/>
              </a:spcBef>
              <a:spcAft>
                <a:spcPts val="0"/>
              </a:spcAft>
              <a:buClr>
                <a:srgbClr val="000000"/>
              </a:buClr>
              <a:buSzPts val="1400"/>
              <a:buFont typeface="Arial"/>
              <a:buChar char="•"/>
              <a:defRPr b="0" i="0" sz="1867" u="none" cap="none" strike="noStrike">
                <a:solidFill>
                  <a:srgbClr val="000000"/>
                </a:solidFill>
                <a:latin typeface="Arial"/>
                <a:ea typeface="Arial"/>
                <a:cs typeface="Arial"/>
                <a:sym typeface="Arial"/>
              </a:defRPr>
            </a:lvl4pPr>
            <a:lvl5pPr indent="-317500" lvl="4" marL="2286000" marR="0" algn="l">
              <a:lnSpc>
                <a:spcPct val="100000"/>
              </a:lnSpc>
              <a:spcBef>
                <a:spcPts val="0"/>
              </a:spcBef>
              <a:spcAft>
                <a:spcPts val="0"/>
              </a:spcAft>
              <a:buClr>
                <a:srgbClr val="000000"/>
              </a:buClr>
              <a:buSzPts val="1400"/>
              <a:buFont typeface="Arial"/>
              <a:buChar char="•"/>
              <a:defRPr b="0" i="0" sz="1867"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9pPr>
          </a:lstStyle>
          <a:p/>
        </p:txBody>
      </p:sp>
      <p:sp>
        <p:nvSpPr>
          <p:cNvPr id="19" name="Google Shape;19;p3"/>
          <p:cNvSpPr txBox="1"/>
          <p:nvPr>
            <p:ph type="title"/>
          </p:nvPr>
        </p:nvSpPr>
        <p:spPr>
          <a:xfrm>
            <a:off x="1076915" y="98171"/>
            <a:ext cx="10104400" cy="483148"/>
          </a:xfrm>
          <a:prstGeom prst="rect">
            <a:avLst/>
          </a:prstGeom>
          <a:noFill/>
          <a:ln>
            <a:noFill/>
          </a:ln>
        </p:spPr>
        <p:txBody>
          <a:bodyPr anchorCtr="0" anchor="ctr" bIns="60950" lIns="121900" spcFirstLastPara="1" rIns="121900" wrap="square" tIns="60950">
            <a:noAutofit/>
          </a:bodyPr>
          <a:lstStyle>
            <a:lvl1pPr lvl="0" marR="0" algn="l">
              <a:lnSpc>
                <a:spcPct val="100000"/>
              </a:lnSpc>
              <a:spcBef>
                <a:spcPts val="0"/>
              </a:spcBef>
              <a:spcAft>
                <a:spcPts val="0"/>
              </a:spcAft>
              <a:buClr>
                <a:srgbClr val="000000"/>
              </a:buClr>
              <a:buSzPts val="1400"/>
              <a:buFont typeface="Arial"/>
              <a:buNone/>
              <a:defRPr b="1" i="0" sz="3733" u="none" cap="none" strike="noStrike">
                <a:solidFill>
                  <a:srgbClr val="F59222"/>
                </a:solidFill>
                <a:latin typeface="Montserrat"/>
                <a:ea typeface="Montserrat"/>
                <a:cs typeface="Montserrat"/>
                <a:sym typeface="Montserrat"/>
              </a:defRPr>
            </a:lvl1pPr>
            <a:lvl2pPr lvl="1"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spTree>
      <p:nvGrpSpPr>
        <p:cNvPr id="20" name="Shape 20"/>
        <p:cNvGrpSpPr/>
        <p:nvPr/>
      </p:nvGrpSpPr>
      <p:grpSpPr>
        <a:xfrm>
          <a:off x="0" y="0"/>
          <a:ext cx="0" cy="0"/>
          <a:chOff x="0" y="0"/>
          <a:chExt cx="0" cy="0"/>
        </a:xfrm>
      </p:grpSpPr>
      <p:sp>
        <p:nvSpPr>
          <p:cNvPr id="21" name="Google Shape;21;p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3" name="Google Shape;23;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5" name="Google Shape;35;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9" name="Shape 59"/>
        <p:cNvGrpSpPr/>
        <p:nvPr/>
      </p:nvGrpSpPr>
      <p:grpSpPr>
        <a:xfrm>
          <a:off x="0" y="0"/>
          <a:ext cx="0" cy="0"/>
          <a:chOff x="0" y="0"/>
          <a:chExt cx="0" cy="0"/>
        </a:xfrm>
      </p:grpSpPr>
      <p:sp>
        <p:nvSpPr>
          <p:cNvPr id="60" name="Google Shape;60;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3" name="Shape 63"/>
        <p:cNvGrpSpPr/>
        <p:nvPr/>
      </p:nvGrpSpPr>
      <p:grpSpPr>
        <a:xfrm>
          <a:off x="0" y="0"/>
          <a:ext cx="0" cy="0"/>
          <a:chOff x="0" y="0"/>
          <a:chExt cx="0" cy="0"/>
        </a:xfrm>
      </p:grpSpPr>
      <p:sp>
        <p:nvSpPr>
          <p:cNvPr id="64" name="Google Shape;64;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6" name="Google Shape;66;p1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7" name="Google Shape;67;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0" name="Shape 70"/>
        <p:cNvGrpSpPr/>
        <p:nvPr/>
      </p:nvGrpSpPr>
      <p:grpSpPr>
        <a:xfrm>
          <a:off x="0" y="0"/>
          <a:ext cx="0" cy="0"/>
          <a:chOff x="0" y="0"/>
          <a:chExt cx="0" cy="0"/>
        </a:xfrm>
      </p:grpSpPr>
      <p:sp>
        <p:nvSpPr>
          <p:cNvPr id="71" name="Google Shape;71;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2"/>
          <p:cNvSpPr/>
          <p:nvPr>
            <p:ph idx="2" type="pic"/>
          </p:nvPr>
        </p:nvSpPr>
        <p:spPr>
          <a:xfrm>
            <a:off x="5183188" y="987425"/>
            <a:ext cx="6172200" cy="4873625"/>
          </a:xfrm>
          <a:prstGeom prst="rect">
            <a:avLst/>
          </a:prstGeom>
          <a:noFill/>
          <a:ln>
            <a:noFill/>
          </a:ln>
        </p:spPr>
      </p:sp>
      <p:sp>
        <p:nvSpPr>
          <p:cNvPr id="73" name="Google Shape;73;p1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4" name="Google Shape;7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7" name="Shape 77"/>
        <p:cNvGrpSpPr/>
        <p:nvPr/>
      </p:nvGrpSpPr>
      <p:grpSpPr>
        <a:xfrm>
          <a:off x="0" y="0"/>
          <a:ext cx="0" cy="0"/>
          <a:chOff x="0" y="0"/>
          <a:chExt cx="0" cy="0"/>
        </a:xfrm>
      </p:grpSpPr>
      <p:sp>
        <p:nvSpPr>
          <p:cNvPr id="78" name="Google Shape;7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3" name="Shape 83"/>
        <p:cNvGrpSpPr/>
        <p:nvPr/>
      </p:nvGrpSpPr>
      <p:grpSpPr>
        <a:xfrm>
          <a:off x="0" y="0"/>
          <a:ext cx="0" cy="0"/>
          <a:chOff x="0" y="0"/>
          <a:chExt cx="0" cy="0"/>
        </a:xfrm>
      </p:grpSpPr>
      <p:sp>
        <p:nvSpPr>
          <p:cNvPr id="84" name="Google Shape;84;p1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descr="A blue and orange logo&#10;&#10;AI-generated content may be incorrect." id="15" name="Google Shape;15;p2"/>
          <p:cNvPicPr preferRelativeResize="0"/>
          <p:nvPr/>
        </p:nvPicPr>
        <p:blipFill rotWithShape="1">
          <a:blip r:embed="rId1">
            <a:alphaModFix/>
          </a:blip>
          <a:srcRect b="0" l="0" r="0" t="0"/>
          <a:stretch/>
        </p:blipFill>
        <p:spPr>
          <a:xfrm>
            <a:off x="11479607" y="7817"/>
            <a:ext cx="685680" cy="70261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1.png"/><Relationship Id="rId10" Type="http://schemas.openxmlformats.org/officeDocument/2006/relationships/image" Target="../media/image11.png"/><Relationship Id="rId13" Type="http://schemas.openxmlformats.org/officeDocument/2006/relationships/hyperlink" Target="https://prism-backend-4mfu.onrender.com/" TargetMode="External"/><Relationship Id="rId12" Type="http://schemas.openxmlformats.org/officeDocument/2006/relationships/hyperlink" Target="https://github.com/thecamouflagedgeek/PRISM.git" TargetMode="External"/><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6.png"/><Relationship Id="rId9" Type="http://schemas.openxmlformats.org/officeDocument/2006/relationships/image" Target="../media/image7.png"/><Relationship Id="rId15" Type="http://schemas.openxmlformats.org/officeDocument/2006/relationships/image" Target="../media/image4.png"/><Relationship Id="rId14" Type="http://schemas.openxmlformats.org/officeDocument/2006/relationships/hyperlink" Target="https://drive.google.com/drive/folders/1Bp1R5hF3XBrDEYBXEWciUBfmwXX_oJC9" TargetMode="External"/><Relationship Id="rId5" Type="http://schemas.openxmlformats.org/officeDocument/2006/relationships/image" Target="../media/image5.png"/><Relationship Id="rId6" Type="http://schemas.openxmlformats.org/officeDocument/2006/relationships/image" Target="../media/image3.png"/><Relationship Id="rId7" Type="http://schemas.openxmlformats.org/officeDocument/2006/relationships/image" Target="../media/image2.png"/><Relationship Id="rId8"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
          <p:cNvSpPr txBox="1"/>
          <p:nvPr>
            <p:ph type="title"/>
          </p:nvPr>
        </p:nvSpPr>
        <p:spPr>
          <a:xfrm>
            <a:off x="-619364" y="-171841"/>
            <a:ext cx="12192000" cy="483200"/>
          </a:xfrm>
          <a:prstGeom prst="rect">
            <a:avLst/>
          </a:prstGeom>
          <a:noFill/>
          <a:ln>
            <a:noFill/>
          </a:ln>
        </p:spPr>
        <p:txBody>
          <a:bodyPr anchorCtr="0" anchor="ctr" bIns="81250" lIns="162525" spcFirstLastPara="1" rIns="162525" wrap="square" tIns="81250">
            <a:noAutofit/>
          </a:bodyPr>
          <a:lstStyle/>
          <a:p>
            <a:pPr indent="0" lvl="0" marL="0" rtl="0" algn="ctr">
              <a:lnSpc>
                <a:spcPct val="100000"/>
              </a:lnSpc>
              <a:spcBef>
                <a:spcPts val="0"/>
              </a:spcBef>
              <a:spcAft>
                <a:spcPts val="0"/>
              </a:spcAft>
              <a:buSzPts val="1400"/>
              <a:buNone/>
            </a:pPr>
            <a:r>
              <a:rPr lang="en-US" sz="1600">
                <a:solidFill>
                  <a:srgbClr val="002060"/>
                </a:solidFill>
                <a:latin typeface="Times New Roman"/>
                <a:ea typeface="Times New Roman"/>
                <a:cs typeface="Times New Roman"/>
                <a:sym typeface="Times New Roman"/>
              </a:rPr>
              <a:t> </a:t>
            </a:r>
            <a:br>
              <a:rPr lang="en-US" sz="1600">
                <a:solidFill>
                  <a:srgbClr val="002060"/>
                </a:solidFill>
                <a:latin typeface="Times New Roman"/>
                <a:ea typeface="Times New Roman"/>
                <a:cs typeface="Times New Roman"/>
                <a:sym typeface="Times New Roman"/>
              </a:rPr>
            </a:br>
            <a:br>
              <a:rPr lang="en-US" sz="1600">
                <a:solidFill>
                  <a:srgbClr val="4892DC"/>
                </a:solidFill>
                <a:latin typeface="Times New Roman"/>
                <a:ea typeface="Times New Roman"/>
                <a:cs typeface="Times New Roman"/>
                <a:sym typeface="Times New Roman"/>
              </a:rPr>
            </a:br>
            <a:r>
              <a:rPr lang="en-US" sz="1600">
                <a:solidFill>
                  <a:srgbClr val="1F5C99"/>
                </a:solidFill>
                <a:latin typeface="Times New Roman"/>
                <a:ea typeface="Times New Roman"/>
                <a:cs typeface="Times New Roman"/>
                <a:sym typeface="Times New Roman"/>
              </a:rPr>
              <a:t>PROJECT Name  : </a:t>
            </a:r>
            <a:r>
              <a:rPr lang="en-US" sz="1600">
                <a:latin typeface="Times New Roman"/>
                <a:ea typeface="Times New Roman"/>
                <a:cs typeface="Times New Roman"/>
                <a:sym typeface="Times New Roman"/>
              </a:rPr>
              <a:t>PRISM [ Predictive Risk Insights &amp; Scoring Model]</a:t>
            </a:r>
            <a:br>
              <a:rPr lang="en-US" sz="1600">
                <a:solidFill>
                  <a:srgbClr val="1F5C99"/>
                </a:solidFill>
                <a:latin typeface="Times New Roman"/>
                <a:ea typeface="Times New Roman"/>
                <a:cs typeface="Times New Roman"/>
                <a:sym typeface="Times New Roman"/>
              </a:rPr>
            </a:br>
            <a:r>
              <a:rPr lang="en-US" sz="1600">
                <a:solidFill>
                  <a:srgbClr val="002060"/>
                </a:solidFill>
                <a:latin typeface="Times New Roman"/>
                <a:ea typeface="Times New Roman"/>
                <a:cs typeface="Times New Roman"/>
                <a:sym typeface="Times New Roman"/>
              </a:rPr>
              <a:t> </a:t>
            </a:r>
            <a:endParaRPr/>
          </a:p>
        </p:txBody>
      </p:sp>
      <p:cxnSp>
        <p:nvCxnSpPr>
          <p:cNvPr id="94" name="Google Shape;94;p1"/>
          <p:cNvCxnSpPr/>
          <p:nvPr/>
        </p:nvCxnSpPr>
        <p:spPr>
          <a:xfrm flipH="1">
            <a:off x="6157079" y="1388640"/>
            <a:ext cx="22400" cy="5470800"/>
          </a:xfrm>
          <a:prstGeom prst="straightConnector1">
            <a:avLst/>
          </a:prstGeom>
          <a:noFill/>
          <a:ln cap="flat" cmpd="sng" w="19050">
            <a:solidFill>
              <a:schemeClr val="lt1"/>
            </a:solidFill>
            <a:prstDash val="solid"/>
            <a:round/>
            <a:headEnd len="med" w="med" type="oval"/>
            <a:tailEnd len="med" w="med" type="oval"/>
          </a:ln>
        </p:spPr>
      </p:cxnSp>
      <p:cxnSp>
        <p:nvCxnSpPr>
          <p:cNvPr id="95" name="Google Shape;95;p1"/>
          <p:cNvCxnSpPr/>
          <p:nvPr/>
        </p:nvCxnSpPr>
        <p:spPr>
          <a:xfrm>
            <a:off x="174587" y="3879575"/>
            <a:ext cx="11870800" cy="0"/>
          </a:xfrm>
          <a:prstGeom prst="straightConnector1">
            <a:avLst/>
          </a:prstGeom>
          <a:noFill/>
          <a:ln cap="flat" cmpd="sng" w="19050">
            <a:solidFill>
              <a:schemeClr val="lt1"/>
            </a:solidFill>
            <a:prstDash val="solid"/>
            <a:round/>
            <a:headEnd len="med" w="med" type="oval"/>
            <a:tailEnd len="med" w="med" type="oval"/>
          </a:ln>
        </p:spPr>
      </p:cxnSp>
      <p:sp>
        <p:nvSpPr>
          <p:cNvPr id="96" name="Google Shape;96;p1"/>
          <p:cNvSpPr/>
          <p:nvPr/>
        </p:nvSpPr>
        <p:spPr>
          <a:xfrm>
            <a:off x="525383" y="1092437"/>
            <a:ext cx="5233200" cy="4832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133"/>
              <a:buFont typeface="Arial"/>
              <a:buNone/>
            </a:pPr>
            <a:r>
              <a:rPr b="1" i="0" lang="en-US" sz="2133" u="none" cap="none" strike="noStrike">
                <a:solidFill>
                  <a:schemeClr val="lt1"/>
                </a:solidFill>
                <a:latin typeface="Times New Roman"/>
                <a:ea typeface="Times New Roman"/>
                <a:cs typeface="Times New Roman"/>
                <a:sym typeface="Times New Roman"/>
              </a:rPr>
              <a:t>Objective</a:t>
            </a:r>
            <a:endParaRPr b="0" i="0" sz="1867" u="none" cap="none" strike="noStrike">
              <a:solidFill>
                <a:srgbClr val="000000"/>
              </a:solidFill>
              <a:latin typeface="Times New Roman"/>
              <a:ea typeface="Times New Roman"/>
              <a:cs typeface="Times New Roman"/>
              <a:sym typeface="Times New Roman"/>
            </a:endParaRPr>
          </a:p>
        </p:txBody>
      </p:sp>
      <p:sp>
        <p:nvSpPr>
          <p:cNvPr id="97" name="Google Shape;97;p1"/>
          <p:cNvSpPr/>
          <p:nvPr/>
        </p:nvSpPr>
        <p:spPr>
          <a:xfrm>
            <a:off x="6187449" y="1192755"/>
            <a:ext cx="5811400" cy="522967"/>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Key Deliverables in Nov-Dec 2025</a:t>
            </a:r>
            <a:endParaRPr b="0" i="0" sz="2000" u="none" cap="none" strike="noStrike">
              <a:solidFill>
                <a:schemeClr val="lt1"/>
              </a:solidFill>
              <a:latin typeface="Times New Roman"/>
              <a:ea typeface="Times New Roman"/>
              <a:cs typeface="Times New Roman"/>
              <a:sym typeface="Times New Roman"/>
            </a:endParaRPr>
          </a:p>
        </p:txBody>
      </p:sp>
      <p:sp>
        <p:nvSpPr>
          <p:cNvPr id="98" name="Google Shape;98;p1"/>
          <p:cNvSpPr/>
          <p:nvPr/>
        </p:nvSpPr>
        <p:spPr>
          <a:xfrm>
            <a:off x="358776" y="3878704"/>
            <a:ext cx="5558400" cy="4832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133"/>
              <a:buFont typeface="Arial"/>
              <a:buNone/>
            </a:pPr>
            <a:r>
              <a:rPr b="1" i="0" lang="en-US" sz="2133" u="none" cap="none" strike="noStrike">
                <a:solidFill>
                  <a:schemeClr val="lt1"/>
                </a:solidFill>
                <a:latin typeface="Times New Roman"/>
                <a:ea typeface="Times New Roman"/>
                <a:cs typeface="Times New Roman"/>
                <a:sym typeface="Times New Roman"/>
              </a:rPr>
              <a:t>Plan for next 2 month</a:t>
            </a:r>
            <a:endParaRPr b="0" i="0" sz="1867" u="none" cap="none" strike="noStrike">
              <a:solidFill>
                <a:srgbClr val="000000"/>
              </a:solidFill>
              <a:latin typeface="Times New Roman"/>
              <a:ea typeface="Times New Roman"/>
              <a:cs typeface="Times New Roman"/>
              <a:sym typeface="Times New Roman"/>
            </a:endParaRPr>
          </a:p>
        </p:txBody>
      </p:sp>
      <p:sp>
        <p:nvSpPr>
          <p:cNvPr id="99" name="Google Shape;99;p1"/>
          <p:cNvSpPr txBox="1"/>
          <p:nvPr>
            <p:ph idx="1" type="body"/>
          </p:nvPr>
        </p:nvSpPr>
        <p:spPr>
          <a:xfrm>
            <a:off x="466375" y="1920125"/>
            <a:ext cx="6123300" cy="4635600"/>
          </a:xfrm>
          <a:prstGeom prst="rect">
            <a:avLst/>
          </a:prstGeom>
          <a:noFill/>
          <a:ln>
            <a:noFill/>
          </a:ln>
        </p:spPr>
        <p:txBody>
          <a:bodyPr anchorCtr="0" anchor="t" bIns="60925" lIns="121900" spcFirstLastPara="1" rIns="121900" wrap="square" tIns="60925">
            <a:noAutofit/>
          </a:bodyPr>
          <a:lstStyle/>
          <a:p>
            <a:pPr indent="0" lvl="0" marL="16932" rtl="0" algn="just">
              <a:lnSpc>
                <a:spcPct val="100000"/>
              </a:lnSpc>
              <a:spcBef>
                <a:spcPts val="0"/>
              </a:spcBef>
              <a:spcAft>
                <a:spcPts val="0"/>
              </a:spcAft>
              <a:buSzPts val="1200"/>
              <a:buNone/>
            </a:pPr>
            <a:r>
              <a:rPr b="1" lang="en-US" sz="1400">
                <a:solidFill>
                  <a:srgbClr val="1F5C99"/>
                </a:solidFill>
                <a:latin typeface="Times New Roman"/>
                <a:ea typeface="Times New Roman"/>
                <a:cs typeface="Times New Roman"/>
                <a:sym typeface="Times New Roman"/>
              </a:rPr>
              <a:t>Business Value &amp; Game changers: </a:t>
            </a:r>
            <a:endParaRPr/>
          </a:p>
          <a:p>
            <a:pPr indent="0" lvl="0" marL="0" rtl="0" algn="just">
              <a:lnSpc>
                <a:spcPct val="100000"/>
              </a:lnSpc>
              <a:spcBef>
                <a:spcPts val="0"/>
              </a:spcBef>
              <a:spcAft>
                <a:spcPts val="0"/>
              </a:spcAft>
              <a:buSzPts val="1400"/>
              <a:buNone/>
            </a:pPr>
            <a:r>
              <a:rPr b="1" lang="en-US" sz="1300">
                <a:solidFill>
                  <a:schemeClr val="dk1"/>
                </a:solidFill>
                <a:latin typeface="Times New Roman"/>
                <a:ea typeface="Times New Roman"/>
                <a:cs typeface="Times New Roman"/>
                <a:sym typeface="Times New Roman"/>
              </a:rPr>
              <a:t>Automation:</a:t>
            </a:r>
            <a:r>
              <a:rPr lang="en-US" sz="1300">
                <a:solidFill>
                  <a:schemeClr val="dk1"/>
                </a:solidFill>
                <a:latin typeface="Times New Roman"/>
                <a:ea typeface="Times New Roman"/>
                <a:cs typeface="Times New Roman"/>
                <a:sym typeface="Times New Roman"/>
              </a:rPr>
              <a:t> Standardized parser and database workflows reduce manual processing.</a:t>
            </a:r>
            <a:endParaRPr sz="13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SzPts val="1400"/>
              <a:buNone/>
            </a:pPr>
            <a:r>
              <a:rPr b="1" lang="en-US" sz="1300">
                <a:solidFill>
                  <a:schemeClr val="dk1"/>
                </a:solidFill>
                <a:latin typeface="Times New Roman"/>
                <a:ea typeface="Times New Roman"/>
                <a:cs typeface="Times New Roman"/>
                <a:sym typeface="Times New Roman"/>
              </a:rPr>
              <a:t>Speed: </a:t>
            </a:r>
            <a:r>
              <a:rPr lang="en-US" sz="1300">
                <a:solidFill>
                  <a:schemeClr val="dk1"/>
                </a:solidFill>
                <a:latin typeface="Times New Roman"/>
                <a:ea typeface="Times New Roman"/>
                <a:cs typeface="Times New Roman"/>
                <a:sym typeface="Times New Roman"/>
              </a:rPr>
              <a:t>Faster document processing through backend integration.</a:t>
            </a:r>
            <a:endParaRPr sz="13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SzPts val="1400"/>
              <a:buNone/>
            </a:pPr>
            <a:r>
              <a:rPr b="1" lang="en-US" sz="1300">
                <a:solidFill>
                  <a:schemeClr val="dk1"/>
                </a:solidFill>
                <a:latin typeface="Times New Roman"/>
                <a:ea typeface="Times New Roman"/>
                <a:cs typeface="Times New Roman"/>
                <a:sym typeface="Times New Roman"/>
              </a:rPr>
              <a:t>Security:</a:t>
            </a:r>
            <a:r>
              <a:rPr lang="en-US" sz="1300">
                <a:solidFill>
                  <a:schemeClr val="dk1"/>
                </a:solidFill>
                <a:latin typeface="Times New Roman"/>
                <a:ea typeface="Times New Roman"/>
                <a:cs typeface="Times New Roman"/>
                <a:sym typeface="Times New Roman"/>
              </a:rPr>
              <a:t> PII isolation and audit logging improve secure data handling.</a:t>
            </a:r>
            <a:endParaRPr sz="13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SzPts val="1400"/>
              <a:buNone/>
            </a:pPr>
            <a:r>
              <a:rPr b="1" lang="en-US" sz="1300">
                <a:solidFill>
                  <a:schemeClr val="dk1"/>
                </a:solidFill>
                <a:latin typeface="Times New Roman"/>
                <a:ea typeface="Times New Roman"/>
                <a:cs typeface="Times New Roman"/>
                <a:sym typeface="Times New Roman"/>
              </a:rPr>
              <a:t>Reliability:</a:t>
            </a:r>
            <a:r>
              <a:rPr lang="en-US" sz="1300">
                <a:solidFill>
                  <a:schemeClr val="dk1"/>
                </a:solidFill>
                <a:latin typeface="Times New Roman"/>
                <a:ea typeface="Times New Roman"/>
                <a:cs typeface="Times New Roman"/>
                <a:sym typeface="Times New Roman"/>
              </a:rPr>
              <a:t> Validation checks ensure consistent and accurate outputs.</a:t>
            </a:r>
            <a:endParaRPr sz="13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SzPts val="1400"/>
              <a:buNone/>
            </a:pPr>
            <a:r>
              <a:rPr b="1" lang="en-US" sz="1300">
                <a:solidFill>
                  <a:schemeClr val="dk1"/>
                </a:solidFill>
                <a:latin typeface="Times New Roman"/>
                <a:ea typeface="Times New Roman"/>
                <a:cs typeface="Times New Roman"/>
                <a:sym typeface="Times New Roman"/>
              </a:rPr>
              <a:t>Scalability:</a:t>
            </a:r>
            <a:r>
              <a:rPr lang="en-US" sz="1300">
                <a:solidFill>
                  <a:schemeClr val="dk1"/>
                </a:solidFill>
                <a:latin typeface="Times New Roman"/>
                <a:ea typeface="Times New Roman"/>
                <a:cs typeface="Times New Roman"/>
                <a:sym typeface="Times New Roman"/>
              </a:rPr>
              <a:t> Relational database design supports large-scale deployment.</a:t>
            </a:r>
            <a:endParaRPr sz="13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SzPts val="1400"/>
              <a:buNone/>
            </a:pPr>
            <a:r>
              <a:rPr b="1" lang="en-US" sz="1300">
                <a:solidFill>
                  <a:schemeClr val="dk1"/>
                </a:solidFill>
                <a:latin typeface="Times New Roman"/>
                <a:ea typeface="Times New Roman"/>
                <a:cs typeface="Times New Roman"/>
                <a:sym typeface="Times New Roman"/>
              </a:rPr>
              <a:t>Production Readiness:</a:t>
            </a:r>
            <a:r>
              <a:rPr lang="en-US" sz="1300">
                <a:solidFill>
                  <a:schemeClr val="dk1"/>
                </a:solidFill>
                <a:latin typeface="Times New Roman"/>
                <a:ea typeface="Times New Roman"/>
                <a:cs typeface="Times New Roman"/>
                <a:sym typeface="Times New Roman"/>
              </a:rPr>
              <a:t> Real-world architecture aligned with fintech systems.</a:t>
            </a:r>
            <a:endParaRPr sz="1300">
              <a:solidFill>
                <a:schemeClr val="dk1"/>
              </a:solidFill>
              <a:latin typeface="Times New Roman"/>
              <a:ea typeface="Times New Roman"/>
              <a:cs typeface="Times New Roman"/>
              <a:sym typeface="Times New Roman"/>
            </a:endParaRPr>
          </a:p>
          <a:p>
            <a:pPr indent="0" lvl="0" marL="16932" rtl="0" algn="just">
              <a:lnSpc>
                <a:spcPct val="100000"/>
              </a:lnSpc>
              <a:spcBef>
                <a:spcPts val="0"/>
              </a:spcBef>
              <a:spcAft>
                <a:spcPts val="0"/>
              </a:spcAft>
              <a:buSzPts val="1200"/>
              <a:buNone/>
            </a:pPr>
            <a:r>
              <a:t/>
            </a:r>
            <a:endParaRPr b="1" sz="1400">
              <a:solidFill>
                <a:srgbClr val="1F5C99"/>
              </a:solidFill>
              <a:latin typeface="Times New Roman"/>
              <a:ea typeface="Times New Roman"/>
              <a:cs typeface="Times New Roman"/>
              <a:sym typeface="Times New Roman"/>
            </a:endParaRPr>
          </a:p>
          <a:p>
            <a:pPr indent="0" lvl="0" marL="16932" rtl="0" algn="just">
              <a:lnSpc>
                <a:spcPct val="100000"/>
              </a:lnSpc>
              <a:spcBef>
                <a:spcPts val="0"/>
              </a:spcBef>
              <a:spcAft>
                <a:spcPts val="0"/>
              </a:spcAft>
              <a:buSzPts val="1200"/>
              <a:buNone/>
            </a:pPr>
            <a:r>
              <a:rPr b="1" lang="en-US" sz="1400">
                <a:solidFill>
                  <a:srgbClr val="1F5C99"/>
                </a:solidFill>
                <a:latin typeface="Times New Roman"/>
                <a:ea typeface="Times New Roman"/>
                <a:cs typeface="Times New Roman"/>
                <a:sym typeface="Times New Roman"/>
              </a:rPr>
              <a:t>Key Accomplishments |  : June 2026 </a:t>
            </a:r>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Implemented PostgreSQL database with production-ready relational schema.</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Integrated salary slip and utility bill parsers with backend.</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Developed feature engineering and validation pipeline for borrower assessment.</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Built a WoE-based Logistic Regression scorecard with PDO scaling for interpretable PD and credit score generation. </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Designed secure database architecture with audit logging and PII isolation.</a:t>
            </a:r>
            <a:endParaRPr sz="1300">
              <a:solidFill>
                <a:schemeClr val="dk1"/>
              </a:solidFill>
              <a:latin typeface="Times New Roman"/>
              <a:ea typeface="Times New Roman"/>
              <a:cs typeface="Times New Roman"/>
              <a:sym typeface="Times New Roman"/>
            </a:endParaRPr>
          </a:p>
          <a:p>
            <a:pPr indent="0" lvl="0" marL="16932" rtl="0" algn="just">
              <a:lnSpc>
                <a:spcPct val="100000"/>
              </a:lnSpc>
              <a:spcBef>
                <a:spcPts val="1200"/>
              </a:spcBef>
              <a:spcAft>
                <a:spcPts val="0"/>
              </a:spcAft>
              <a:buSzPts val="1200"/>
              <a:buNone/>
            </a:pPr>
            <a:r>
              <a:rPr b="1" lang="en-US" sz="1400">
                <a:solidFill>
                  <a:srgbClr val="1F5C99"/>
                </a:solidFill>
                <a:latin typeface="Times New Roman"/>
                <a:ea typeface="Times New Roman"/>
                <a:cs typeface="Times New Roman"/>
                <a:sym typeface="Times New Roman"/>
              </a:rPr>
              <a:t>Reusable Assets/Solutions/Opportunities:</a:t>
            </a:r>
            <a:r>
              <a:rPr b="1" lang="en-US" sz="1300">
                <a:solidFill>
                  <a:srgbClr val="1F5C99"/>
                </a:solidFill>
                <a:latin typeface="Times New Roman"/>
                <a:ea typeface="Times New Roman"/>
                <a:cs typeface="Times New Roman"/>
                <a:sym typeface="Times New Roman"/>
              </a:rPr>
              <a:t> </a:t>
            </a:r>
            <a:r>
              <a:rPr b="1" lang="en-US" sz="1300">
                <a:solidFill>
                  <a:schemeClr val="dk1"/>
                </a:solidFill>
                <a:latin typeface="Times New Roman"/>
                <a:ea typeface="Times New Roman"/>
                <a:cs typeface="Times New Roman"/>
                <a:sym typeface="Times New Roman"/>
              </a:rPr>
              <a:t>Yes.</a:t>
            </a:r>
            <a:r>
              <a:rPr lang="en-US" sz="1300">
                <a:solidFill>
                  <a:schemeClr val="dk1"/>
                </a:solidFill>
                <a:latin typeface="Times New Roman"/>
                <a:ea typeface="Times New Roman"/>
                <a:cs typeface="Times New Roman"/>
                <a:sym typeface="Times New Roman"/>
              </a:rPr>
              <a:t> These include reusable database schemas, parser integrations, feature extraction pipelines, and validation frameworks.</a:t>
            </a:r>
            <a:endParaRPr sz="1300">
              <a:latin typeface="Times New Roman"/>
              <a:ea typeface="Times New Roman"/>
              <a:cs typeface="Times New Roman"/>
              <a:sym typeface="Times New Roman"/>
            </a:endParaRPr>
          </a:p>
          <a:p>
            <a:pPr indent="0" lvl="0" marL="0" rtl="0" algn="just">
              <a:lnSpc>
                <a:spcPct val="100000"/>
              </a:lnSpc>
              <a:spcBef>
                <a:spcPts val="0"/>
              </a:spcBef>
              <a:spcAft>
                <a:spcPts val="0"/>
              </a:spcAft>
              <a:buSzPts val="1200"/>
              <a:buNone/>
            </a:pPr>
            <a:r>
              <a:t/>
            </a:r>
            <a:endParaRPr sz="1400">
              <a:latin typeface="Times New Roman"/>
              <a:ea typeface="Times New Roman"/>
              <a:cs typeface="Times New Roman"/>
              <a:sym typeface="Times New Roman"/>
            </a:endParaRPr>
          </a:p>
          <a:p>
            <a:pPr indent="0" lvl="0" marL="16932" rtl="0" algn="just">
              <a:lnSpc>
                <a:spcPct val="100000"/>
              </a:lnSpc>
              <a:spcBef>
                <a:spcPts val="0"/>
              </a:spcBef>
              <a:spcAft>
                <a:spcPts val="0"/>
              </a:spcAft>
              <a:buSzPts val="1200"/>
              <a:buNone/>
            </a:pPr>
            <a:r>
              <a:rPr b="1" lang="en-US" sz="1400">
                <a:solidFill>
                  <a:srgbClr val="1F5C99"/>
                </a:solidFill>
                <a:latin typeface="Times New Roman"/>
                <a:ea typeface="Times New Roman"/>
                <a:cs typeface="Times New Roman"/>
                <a:sym typeface="Times New Roman"/>
              </a:rPr>
              <a:t>Upcoming Milestone: </a:t>
            </a:r>
            <a:r>
              <a:rPr b="1" lang="en-US" sz="1400">
                <a:solidFill>
                  <a:srgbClr val="1F5C99"/>
                </a:solidFill>
                <a:latin typeface="Times New Roman"/>
                <a:ea typeface="Times New Roman"/>
                <a:cs typeface="Times New Roman"/>
                <a:sym typeface="Times New Roman"/>
              </a:rPr>
              <a:t>Increase the accuracy of the Logistic Regression model</a:t>
            </a:r>
            <a:endParaRPr b="1" sz="1400">
              <a:solidFill>
                <a:srgbClr val="1F5C99"/>
              </a:solidFill>
              <a:latin typeface="Times New Roman"/>
              <a:ea typeface="Times New Roman"/>
              <a:cs typeface="Times New Roman"/>
              <a:sym typeface="Times New Roman"/>
            </a:endParaRPr>
          </a:p>
          <a:p>
            <a:pPr indent="-285750" lvl="0" marL="457200" rtl="0" algn="l">
              <a:lnSpc>
                <a:spcPct val="115000"/>
              </a:lnSpc>
              <a:spcBef>
                <a:spcPts val="0"/>
              </a:spcBef>
              <a:spcAft>
                <a:spcPts val="0"/>
              </a:spcAft>
              <a:buClr>
                <a:schemeClr val="dk1"/>
              </a:buClr>
              <a:buSzPts val="900"/>
              <a:buChar char="●"/>
            </a:pPr>
            <a:r>
              <a:rPr lang="en-US" sz="1300">
                <a:solidFill>
                  <a:schemeClr val="dk1"/>
                </a:solidFill>
                <a:latin typeface="Times New Roman"/>
                <a:ea typeface="Times New Roman"/>
                <a:cs typeface="Times New Roman"/>
                <a:sym typeface="Times New Roman"/>
              </a:rPr>
              <a:t>Integrate real-world datasets with the scoring pipeline.</a:t>
            </a:r>
            <a:endParaRPr sz="1300">
              <a:solidFill>
                <a:schemeClr val="dk1"/>
              </a:solidFill>
              <a:latin typeface="Times New Roman"/>
              <a:ea typeface="Times New Roman"/>
              <a:cs typeface="Times New Roman"/>
              <a:sym typeface="Times New Roman"/>
            </a:endParaRPr>
          </a:p>
          <a:p>
            <a:pPr indent="-285750" lvl="0" marL="457200" rtl="0" algn="l">
              <a:lnSpc>
                <a:spcPct val="115000"/>
              </a:lnSpc>
              <a:spcBef>
                <a:spcPts val="0"/>
              </a:spcBef>
              <a:spcAft>
                <a:spcPts val="0"/>
              </a:spcAft>
              <a:buClr>
                <a:schemeClr val="dk1"/>
              </a:buClr>
              <a:buSzPts val="900"/>
              <a:buChar char="●"/>
            </a:pPr>
            <a:r>
              <a:rPr lang="en-US" sz="1300">
                <a:solidFill>
                  <a:schemeClr val="dk1"/>
                </a:solidFill>
                <a:latin typeface="Times New Roman"/>
                <a:ea typeface="Times New Roman"/>
                <a:cs typeface="Times New Roman"/>
                <a:sym typeface="Times New Roman"/>
              </a:rPr>
              <a:t>Connect parser outputs, database, and scoring engine end-to-end.</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400"/>
              <a:buNone/>
            </a:pPr>
            <a:r>
              <a:t/>
            </a:r>
            <a:endParaRPr sz="1300">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SzPts val="1400"/>
              <a:buNone/>
            </a:pPr>
            <a:r>
              <a:t/>
            </a:r>
            <a:endParaRPr b="1" sz="1200">
              <a:solidFill>
                <a:schemeClr val="dk1"/>
              </a:solidFill>
              <a:latin typeface="Times New Roman"/>
              <a:ea typeface="Times New Roman"/>
              <a:cs typeface="Times New Roman"/>
              <a:sym typeface="Times New Roman"/>
            </a:endParaRPr>
          </a:p>
          <a:p>
            <a:pPr indent="0" lvl="0" marL="16932" rtl="0" algn="just">
              <a:lnSpc>
                <a:spcPct val="100000"/>
              </a:lnSpc>
              <a:spcBef>
                <a:spcPts val="1200"/>
              </a:spcBef>
              <a:spcAft>
                <a:spcPts val="0"/>
              </a:spcAft>
              <a:buSzPts val="1200"/>
              <a:buNone/>
            </a:pPr>
            <a:r>
              <a:t/>
            </a:r>
            <a:endParaRPr b="1" sz="1400">
              <a:solidFill>
                <a:srgbClr val="1F5C99"/>
              </a:solidFill>
              <a:latin typeface="Times New Roman"/>
              <a:ea typeface="Times New Roman"/>
              <a:cs typeface="Times New Roman"/>
              <a:sym typeface="Times New Roman"/>
            </a:endParaRPr>
          </a:p>
        </p:txBody>
      </p:sp>
      <p:sp>
        <p:nvSpPr>
          <p:cNvPr id="100" name="Google Shape;100;p1"/>
          <p:cNvSpPr txBox="1"/>
          <p:nvPr/>
        </p:nvSpPr>
        <p:spPr>
          <a:xfrm>
            <a:off x="-538375" y="205268"/>
            <a:ext cx="12192000" cy="4926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1F5C99"/>
                </a:solidFill>
                <a:latin typeface="Times New Roman"/>
                <a:ea typeface="Times New Roman"/>
                <a:cs typeface="Times New Roman"/>
                <a:sym typeface="Times New Roman"/>
              </a:rPr>
              <a:t>Domain: </a:t>
            </a:r>
            <a:r>
              <a:rPr b="1" i="0" lang="en-US" sz="1600" u="none" cap="none" strike="noStrike">
                <a:solidFill>
                  <a:schemeClr val="dk1"/>
                </a:solidFill>
                <a:latin typeface="Times New Roman"/>
                <a:ea typeface="Times New Roman"/>
                <a:cs typeface="Times New Roman"/>
                <a:sym typeface="Times New Roman"/>
              </a:rPr>
              <a:t>Insurance/Fintech || </a:t>
            </a:r>
            <a:r>
              <a:rPr b="1" i="0" lang="en-US" sz="1600" u="none" cap="none" strike="noStrike">
                <a:solidFill>
                  <a:srgbClr val="1F5C99"/>
                </a:solidFill>
                <a:latin typeface="Times New Roman"/>
                <a:ea typeface="Times New Roman"/>
                <a:cs typeface="Times New Roman"/>
                <a:sym typeface="Times New Roman"/>
              </a:rPr>
              <a:t>Team: </a:t>
            </a:r>
            <a:r>
              <a:rPr b="1" i="0" lang="en-US" sz="1600" u="none" cap="none" strike="noStrike">
                <a:solidFill>
                  <a:schemeClr val="dk1"/>
                </a:solidFill>
                <a:latin typeface="Times New Roman"/>
                <a:ea typeface="Times New Roman"/>
                <a:cs typeface="Times New Roman"/>
                <a:sym typeface="Times New Roman"/>
              </a:rPr>
              <a:t>Hazel Sequeira, Freia Quadros</a:t>
            </a:r>
            <a:endParaRPr b="1" i="0" sz="1600" u="none" cap="none" strike="noStrike">
              <a:solidFill>
                <a:srgbClr val="000000"/>
              </a:solidFill>
              <a:latin typeface="Times New Roman"/>
              <a:ea typeface="Times New Roman"/>
              <a:cs typeface="Times New Roman"/>
              <a:sym typeface="Times New Roman"/>
            </a:endParaRPr>
          </a:p>
        </p:txBody>
      </p:sp>
      <p:pic>
        <p:nvPicPr>
          <p:cNvPr descr="A red and white target with a yellow arrow&#10;&#10;AI-generated content may be incorrect." id="101" name="Google Shape;101;p1"/>
          <p:cNvPicPr preferRelativeResize="0"/>
          <p:nvPr/>
        </p:nvPicPr>
        <p:blipFill rotWithShape="1">
          <a:blip r:embed="rId3">
            <a:alphaModFix/>
          </a:blip>
          <a:srcRect b="0" l="0" r="0" t="0"/>
          <a:stretch/>
        </p:blipFill>
        <p:spPr>
          <a:xfrm>
            <a:off x="70378" y="1136037"/>
            <a:ext cx="396000" cy="396000"/>
          </a:xfrm>
          <a:prstGeom prst="rect">
            <a:avLst/>
          </a:prstGeom>
          <a:noFill/>
          <a:ln>
            <a:noFill/>
          </a:ln>
        </p:spPr>
      </p:pic>
      <p:pic>
        <p:nvPicPr>
          <p:cNvPr descr="A group of people with arms up and a star above them&#10;&#10;AI-generated content may be incorrect." id="102" name="Google Shape;102;p1"/>
          <p:cNvPicPr preferRelativeResize="0"/>
          <p:nvPr/>
        </p:nvPicPr>
        <p:blipFill rotWithShape="1">
          <a:blip r:embed="rId4">
            <a:alphaModFix/>
          </a:blip>
          <a:srcRect b="0" l="0" r="0" t="0"/>
          <a:stretch/>
        </p:blipFill>
        <p:spPr>
          <a:xfrm>
            <a:off x="70376" y="3577032"/>
            <a:ext cx="396000" cy="396000"/>
          </a:xfrm>
          <a:prstGeom prst="rect">
            <a:avLst/>
          </a:prstGeom>
          <a:noFill/>
          <a:ln>
            <a:noFill/>
          </a:ln>
        </p:spPr>
      </p:pic>
      <p:pic>
        <p:nvPicPr>
          <p:cNvPr descr="A handshake with a tick and a white cloud&#10;&#10;AI-generated content may be incorrect." id="103" name="Google Shape;103;p1"/>
          <p:cNvPicPr preferRelativeResize="0"/>
          <p:nvPr/>
        </p:nvPicPr>
        <p:blipFill rotWithShape="1">
          <a:blip r:embed="rId5">
            <a:alphaModFix/>
          </a:blip>
          <a:srcRect b="0" l="0" r="0" t="0"/>
          <a:stretch/>
        </p:blipFill>
        <p:spPr>
          <a:xfrm>
            <a:off x="6458854" y="2060295"/>
            <a:ext cx="396000" cy="396000"/>
          </a:xfrm>
          <a:prstGeom prst="rect">
            <a:avLst/>
          </a:prstGeom>
          <a:noFill/>
          <a:ln>
            <a:noFill/>
          </a:ln>
        </p:spPr>
      </p:pic>
      <p:pic>
        <p:nvPicPr>
          <p:cNvPr descr="A person holding a paper plane&#10;&#10;AI-generated content may be incorrect." id="104" name="Google Shape;104;p1"/>
          <p:cNvPicPr preferRelativeResize="0"/>
          <p:nvPr/>
        </p:nvPicPr>
        <p:blipFill rotWithShape="1">
          <a:blip r:embed="rId6">
            <a:alphaModFix/>
          </a:blip>
          <a:srcRect b="0" l="0" r="0" t="0"/>
          <a:stretch/>
        </p:blipFill>
        <p:spPr>
          <a:xfrm>
            <a:off x="6458854" y="3411820"/>
            <a:ext cx="396000" cy="396000"/>
          </a:xfrm>
          <a:prstGeom prst="rect">
            <a:avLst/>
          </a:prstGeom>
          <a:noFill/>
          <a:ln>
            <a:noFill/>
          </a:ln>
        </p:spPr>
      </p:pic>
      <p:sp>
        <p:nvSpPr>
          <p:cNvPr id="105" name="Google Shape;105;p1"/>
          <p:cNvSpPr txBox="1"/>
          <p:nvPr/>
        </p:nvSpPr>
        <p:spPr>
          <a:xfrm>
            <a:off x="7159257" y="1864658"/>
            <a:ext cx="4886100" cy="41211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F5C99"/>
                </a:solidFill>
                <a:latin typeface="Times New Roman"/>
                <a:ea typeface="Times New Roman"/>
                <a:cs typeface="Times New Roman"/>
                <a:sym typeface="Times New Roman"/>
              </a:rPr>
              <a:t>Planned Deliverables (Next one Months):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Implement the complete WoE, Information Value, and Logistic Regression-based credit scoring pipeline. Integrate parser outputs, database, and real-world datasets to deliver an end-to-end borrower assessment workflow.</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1F5C99"/>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F5C99"/>
                </a:solidFill>
                <a:latin typeface="Times New Roman"/>
                <a:ea typeface="Times New Roman"/>
                <a:cs typeface="Times New Roman"/>
                <a:sym typeface="Times New Roman"/>
              </a:rPr>
              <a:t>Risks &amp; Challenges:</a:t>
            </a:r>
            <a:endParaRPr b="1" i="0" sz="1400" u="none" cap="none" strike="noStrike">
              <a:solidFill>
                <a:srgbClr val="1F5C99"/>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lang="en-US">
                <a:solidFill>
                  <a:srgbClr val="FF6D6D"/>
                </a:solidFill>
                <a:latin typeface="Times New Roman"/>
                <a:ea typeface="Times New Roman"/>
                <a:cs typeface="Times New Roman"/>
                <a:sym typeface="Times New Roman"/>
              </a:rPr>
              <a:t>Limited access to diverse real-world financial datasets continues to impact parser validation and model generalization.</a:t>
            </a:r>
            <a:endParaRPr>
              <a:solidFill>
                <a:srgbClr val="FF6D6D"/>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lang="en-US">
                <a:solidFill>
                  <a:srgbClr val="FF6D6D"/>
                </a:solidFill>
                <a:latin typeface="Times New Roman"/>
                <a:ea typeface="Times New Roman"/>
                <a:cs typeface="Times New Roman"/>
                <a:sym typeface="Times New Roman"/>
              </a:rPr>
              <a:t>Ensuring reliable integration between document extraction, feature generation, database storage, and credit scoring remains a key technical challenge.</a:t>
            </a:r>
            <a:endParaRPr>
              <a:solidFill>
                <a:srgbClr val="FF6D6D"/>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a:solidFill>
                <a:srgbClr val="FF6D6D"/>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F5C99"/>
                </a:solidFill>
                <a:latin typeface="Times New Roman"/>
                <a:ea typeface="Times New Roman"/>
                <a:cs typeface="Times New Roman"/>
                <a:sym typeface="Times New Roman"/>
              </a:rPr>
              <a:t>Feedback &amp; improvements: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Suggested improvements include expanding real-world dataset validation, strengthening database–parser integration, and implementing the complete explainable credit scoring pipeline.</a:t>
            </a:r>
            <a:endParaRPr b="0" i="0" sz="1400" u="none" cap="none" strike="noStrike">
              <a:solidFill>
                <a:srgbClr val="000000"/>
              </a:solidFill>
              <a:latin typeface="Times New Roman"/>
              <a:ea typeface="Times New Roman"/>
              <a:cs typeface="Times New Roman"/>
              <a:sym typeface="Times New Roman"/>
            </a:endParaRPr>
          </a:p>
          <a:p>
            <a:pPr indent="-254000" lvl="0" marL="342900" marR="0" rtl="0" algn="l">
              <a:lnSpc>
                <a:spcPct val="100000"/>
              </a:lnSpc>
              <a:spcBef>
                <a:spcPts val="0"/>
              </a:spcBef>
              <a:spcAft>
                <a:spcPts val="0"/>
              </a:spcAft>
              <a:buClr>
                <a:srgbClr val="000000"/>
              </a:buClr>
              <a:buSzPts val="1400"/>
              <a:buFont typeface="Play"/>
              <a:buNone/>
            </a:pPr>
            <a:r>
              <a:t/>
            </a:r>
            <a:endParaRPr b="0" i="0" sz="1400" u="none" cap="none" strike="noStrike">
              <a:solidFill>
                <a:srgbClr val="000000"/>
              </a:solidFill>
              <a:latin typeface="Times New Roman"/>
              <a:ea typeface="Times New Roman"/>
              <a:cs typeface="Times New Roman"/>
              <a:sym typeface="Times New Roman"/>
            </a:endParaRPr>
          </a:p>
          <a:p>
            <a:pPr indent="-254000" lvl="0" marL="342900" marR="0" rtl="0" algn="l">
              <a:lnSpc>
                <a:spcPct val="100000"/>
              </a:lnSpc>
              <a:spcBef>
                <a:spcPts val="0"/>
              </a:spcBef>
              <a:spcAft>
                <a:spcPts val="0"/>
              </a:spcAft>
              <a:buClr>
                <a:srgbClr val="000000"/>
              </a:buClr>
              <a:buSzPts val="1400"/>
              <a:buFont typeface="Play"/>
              <a:buNone/>
            </a:pPr>
            <a:r>
              <a:t/>
            </a:r>
            <a:endParaRPr b="0" i="0" sz="1400" u="none" cap="none" strike="noStrike">
              <a:solidFill>
                <a:srgbClr val="000000"/>
              </a:solidFill>
              <a:latin typeface="Times New Roman"/>
              <a:ea typeface="Times New Roman"/>
              <a:cs typeface="Times New Roman"/>
              <a:sym typeface="Times New Roman"/>
            </a:endParaRPr>
          </a:p>
        </p:txBody>
      </p:sp>
      <p:pic>
        <p:nvPicPr>
          <p:cNvPr descr="A clipboard with a graph on it&#10;&#10;AI-generated content may be incorrect." id="106" name="Google Shape;106;p1"/>
          <p:cNvPicPr preferRelativeResize="0"/>
          <p:nvPr/>
        </p:nvPicPr>
        <p:blipFill rotWithShape="1">
          <a:blip r:embed="rId7">
            <a:alphaModFix/>
          </a:blip>
          <a:srcRect b="0" l="0" r="0" t="0"/>
          <a:stretch/>
        </p:blipFill>
        <p:spPr>
          <a:xfrm>
            <a:off x="70368" y="2035925"/>
            <a:ext cx="396000" cy="396000"/>
          </a:xfrm>
          <a:prstGeom prst="rect">
            <a:avLst/>
          </a:prstGeom>
          <a:noFill/>
          <a:ln>
            <a:noFill/>
          </a:ln>
        </p:spPr>
      </p:pic>
      <p:pic>
        <p:nvPicPr>
          <p:cNvPr descr="A couple of people sitting at a table&#10;&#10;AI-generated content may be incorrect." id="107" name="Google Shape;107;p1"/>
          <p:cNvPicPr preferRelativeResize="0"/>
          <p:nvPr/>
        </p:nvPicPr>
        <p:blipFill rotWithShape="1">
          <a:blip r:embed="rId8">
            <a:alphaModFix/>
          </a:blip>
          <a:srcRect b="0" l="0" r="0" t="0"/>
          <a:stretch/>
        </p:blipFill>
        <p:spPr>
          <a:xfrm>
            <a:off x="6458854" y="4444430"/>
            <a:ext cx="396000" cy="396000"/>
          </a:xfrm>
          <a:prstGeom prst="rect">
            <a:avLst/>
          </a:prstGeom>
          <a:noFill/>
          <a:ln>
            <a:noFill/>
          </a:ln>
        </p:spPr>
      </p:pic>
      <p:sp>
        <p:nvSpPr>
          <p:cNvPr id="108" name="Google Shape;108;p1"/>
          <p:cNvSpPr txBox="1"/>
          <p:nvPr/>
        </p:nvSpPr>
        <p:spPr>
          <a:xfrm>
            <a:off x="471875" y="917949"/>
            <a:ext cx="11392800" cy="107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F5C99"/>
                </a:solidFill>
                <a:latin typeface="Times New Roman"/>
                <a:ea typeface="Times New Roman"/>
                <a:cs typeface="Times New Roman"/>
                <a:sym typeface="Times New Roman"/>
              </a:rPr>
              <a:t>Milestone Objective: </a:t>
            </a:r>
            <a:r>
              <a:rPr b="0" i="0" lang="en-US" sz="1600" u="none" cap="none" strike="noStrike">
                <a:solidFill>
                  <a:schemeClr val="dk1"/>
                </a:solidFill>
                <a:latin typeface="Times New Roman"/>
                <a:ea typeface="Times New Roman"/>
                <a:cs typeface="Times New Roman"/>
                <a:sym typeface="Times New Roman"/>
              </a:rPr>
              <a:t>PRISM delivers an integrated credit intelligence platform that validates documents, detects fraud, and generates explainable risk scores, addressing trust and reliability gaps in digital lending. It benefits lenders by improving decision confidence and borrowers by enabling fairer credit access.</a:t>
            </a:r>
            <a:endParaRPr b="0" i="0" sz="1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Times New Roman"/>
              <a:ea typeface="Times New Roman"/>
              <a:cs typeface="Times New Roman"/>
              <a:sym typeface="Times New Roman"/>
            </a:endParaRPr>
          </a:p>
        </p:txBody>
      </p:sp>
      <p:cxnSp>
        <p:nvCxnSpPr>
          <p:cNvPr id="109" name="Google Shape;109;p1"/>
          <p:cNvCxnSpPr/>
          <p:nvPr/>
        </p:nvCxnSpPr>
        <p:spPr>
          <a:xfrm>
            <a:off x="405314" y="890820"/>
            <a:ext cx="11640073" cy="0"/>
          </a:xfrm>
          <a:prstGeom prst="straightConnector1">
            <a:avLst/>
          </a:prstGeom>
          <a:noFill/>
          <a:ln cap="flat" cmpd="sng" w="19050">
            <a:solidFill>
              <a:schemeClr val="dk1"/>
            </a:solidFill>
            <a:prstDash val="solid"/>
            <a:miter lim="8000"/>
            <a:headEnd len="sm" w="sm" type="none"/>
            <a:tailEnd len="sm" w="sm" type="none"/>
          </a:ln>
        </p:spPr>
      </p:cxnSp>
      <p:pic>
        <p:nvPicPr>
          <p:cNvPr id="110" name="Google Shape;110;p1"/>
          <p:cNvPicPr preferRelativeResize="0"/>
          <p:nvPr/>
        </p:nvPicPr>
        <p:blipFill rotWithShape="1">
          <a:blip r:embed="rId9">
            <a:alphaModFix/>
          </a:blip>
          <a:srcRect b="0" l="0" r="0" t="0"/>
          <a:stretch/>
        </p:blipFill>
        <p:spPr>
          <a:xfrm>
            <a:off x="70367" y="4902067"/>
            <a:ext cx="396000" cy="396000"/>
          </a:xfrm>
          <a:prstGeom prst="rect">
            <a:avLst/>
          </a:prstGeom>
          <a:noFill/>
          <a:ln>
            <a:noFill/>
          </a:ln>
        </p:spPr>
      </p:pic>
      <p:pic>
        <p:nvPicPr>
          <p:cNvPr id="111" name="Google Shape;111;p1"/>
          <p:cNvPicPr preferRelativeResize="0"/>
          <p:nvPr/>
        </p:nvPicPr>
        <p:blipFill rotWithShape="1">
          <a:blip r:embed="rId10">
            <a:alphaModFix/>
          </a:blip>
          <a:srcRect b="0" l="0" r="0" t="0"/>
          <a:stretch/>
        </p:blipFill>
        <p:spPr>
          <a:xfrm>
            <a:off x="6448129" y="5544534"/>
            <a:ext cx="396000" cy="396000"/>
          </a:xfrm>
          <a:prstGeom prst="rect">
            <a:avLst/>
          </a:prstGeom>
          <a:noFill/>
          <a:ln>
            <a:noFill/>
          </a:ln>
        </p:spPr>
      </p:pic>
      <p:sp>
        <p:nvSpPr>
          <p:cNvPr id="112" name="Google Shape;112;p1"/>
          <p:cNvSpPr txBox="1"/>
          <p:nvPr/>
        </p:nvSpPr>
        <p:spPr>
          <a:xfrm>
            <a:off x="7123531" y="6134647"/>
            <a:ext cx="4232400" cy="344400"/>
          </a:xfrm>
          <a:prstGeom prst="rect">
            <a:avLst/>
          </a:prstGeom>
          <a:noFill/>
          <a:ln>
            <a:noFill/>
          </a:ln>
        </p:spPr>
        <p:txBody>
          <a:bodyPr anchorCtr="0" anchor="t" bIns="60925" lIns="121900" spcFirstLastPara="1" rIns="121900" wrap="square" tIns="60925">
            <a:noAutofit/>
          </a:bodyPr>
          <a:lstStyle/>
          <a:p>
            <a:pPr indent="0" lvl="0" marL="16932" marR="0" rtl="0" algn="just">
              <a:lnSpc>
                <a:spcPct val="100000"/>
              </a:lnSpc>
              <a:spcBef>
                <a:spcPts val="0"/>
              </a:spcBef>
              <a:spcAft>
                <a:spcPts val="0"/>
              </a:spcAft>
              <a:buClr>
                <a:srgbClr val="000000"/>
              </a:buClr>
              <a:buSzPts val="1200"/>
              <a:buFont typeface="Arial"/>
              <a:buNone/>
            </a:pPr>
            <a:r>
              <a:rPr b="1" i="0" lang="en-US" sz="1400" u="none" cap="none" strike="noStrike">
                <a:solidFill>
                  <a:srgbClr val="1F5C99"/>
                </a:solidFill>
                <a:latin typeface="Times New Roman"/>
                <a:ea typeface="Times New Roman"/>
                <a:cs typeface="Times New Roman"/>
                <a:sym typeface="Times New Roman"/>
              </a:rPr>
              <a:t>Demo Links</a:t>
            </a:r>
            <a:r>
              <a:rPr b="0" i="0" lang="en-US" sz="14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16932" marR="0" rtl="0" algn="just">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pic>
        <p:nvPicPr>
          <p:cNvPr id="113" name="Google Shape;113;p1"/>
          <p:cNvPicPr preferRelativeResize="0"/>
          <p:nvPr/>
        </p:nvPicPr>
        <p:blipFill rotWithShape="1">
          <a:blip r:embed="rId11">
            <a:alphaModFix/>
          </a:blip>
          <a:srcRect b="0" l="0" r="0" t="0"/>
          <a:stretch/>
        </p:blipFill>
        <p:spPr>
          <a:xfrm>
            <a:off x="6453501" y="6249161"/>
            <a:ext cx="396000" cy="396000"/>
          </a:xfrm>
          <a:prstGeom prst="rect">
            <a:avLst/>
          </a:prstGeom>
          <a:noFill/>
          <a:ln>
            <a:noFill/>
          </a:ln>
        </p:spPr>
      </p:pic>
      <p:sp>
        <p:nvSpPr>
          <p:cNvPr id="114" name="Google Shape;114;p1"/>
          <p:cNvSpPr txBox="1"/>
          <p:nvPr/>
        </p:nvSpPr>
        <p:spPr>
          <a:xfrm>
            <a:off x="7104704" y="5641334"/>
            <a:ext cx="4232400" cy="344400"/>
          </a:xfrm>
          <a:prstGeom prst="rect">
            <a:avLst/>
          </a:prstGeom>
          <a:noFill/>
          <a:ln>
            <a:noFill/>
          </a:ln>
        </p:spPr>
        <p:txBody>
          <a:bodyPr anchorCtr="0" anchor="t" bIns="60925" lIns="121900" spcFirstLastPara="1" rIns="121900" wrap="square" tIns="60925">
            <a:noAutofit/>
          </a:bodyPr>
          <a:lstStyle/>
          <a:p>
            <a:pPr indent="0" lvl="0" marL="16932" marR="0" rtl="0" algn="just">
              <a:lnSpc>
                <a:spcPct val="100000"/>
              </a:lnSpc>
              <a:spcBef>
                <a:spcPts val="0"/>
              </a:spcBef>
              <a:spcAft>
                <a:spcPts val="0"/>
              </a:spcAft>
              <a:buClr>
                <a:srgbClr val="000000"/>
              </a:buClr>
              <a:buSzPts val="1200"/>
              <a:buFont typeface="Arial"/>
              <a:buNone/>
            </a:pPr>
            <a:r>
              <a:rPr b="1" i="0" lang="en-US" sz="1400" u="none" cap="none" strike="noStrike">
                <a:solidFill>
                  <a:srgbClr val="1F5C99"/>
                </a:solidFill>
                <a:latin typeface="Times New Roman"/>
                <a:ea typeface="Times New Roman"/>
                <a:cs typeface="Times New Roman"/>
                <a:sym typeface="Times New Roman"/>
              </a:rPr>
              <a:t>GithubLinks</a:t>
            </a:r>
            <a:r>
              <a:rPr b="0" i="0" lang="en-US" sz="1400" u="none" cap="none" strike="noStrike">
                <a:solidFill>
                  <a:srgbClr val="000000"/>
                </a:solidFill>
                <a:latin typeface="Times New Roman"/>
                <a:ea typeface="Times New Roman"/>
                <a:cs typeface="Times New Roman"/>
                <a:sym typeface="Times New Roman"/>
              </a:rPr>
              <a:t>:  </a:t>
            </a:r>
            <a:r>
              <a:rPr b="0" i="0" lang="en-US" sz="1400" u="sng" cap="none" strike="noStrike">
                <a:solidFill>
                  <a:schemeClr val="hlink"/>
                </a:solidFill>
                <a:latin typeface="Times New Roman"/>
                <a:ea typeface="Times New Roman"/>
                <a:cs typeface="Times New Roman"/>
                <a:sym typeface="Times New Roman"/>
                <a:hlinkClick r:id="rId12"/>
              </a:rPr>
              <a:t>https://github.com/thecamouflagedgeek/PRISM.git</a:t>
            </a:r>
            <a:endParaRPr b="0" i="0" sz="1400" u="none" cap="none" strike="noStrike">
              <a:solidFill>
                <a:srgbClr val="000000"/>
              </a:solidFill>
              <a:latin typeface="Times New Roman"/>
              <a:ea typeface="Times New Roman"/>
              <a:cs typeface="Times New Roman"/>
              <a:sym typeface="Times New Roman"/>
            </a:endParaRPr>
          </a:p>
          <a:p>
            <a:pPr indent="0" lvl="0" marL="16932" marR="0" rtl="0" algn="just">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0" lvl="0" marL="16932" marR="0" rtl="0" algn="just">
              <a:lnSpc>
                <a:spcPct val="100000"/>
              </a:lnSpc>
              <a:spcBef>
                <a:spcPts val="0"/>
              </a:spcBef>
              <a:spcAft>
                <a:spcPts val="0"/>
              </a:spcAft>
              <a:buClr>
                <a:srgbClr val="000000"/>
              </a:buClr>
              <a:buSzPts val="1200"/>
              <a:buFont typeface="Arial"/>
              <a:buNone/>
            </a:pPr>
            <a:r>
              <a:rPr b="0" i="0" lang="en-US" sz="1200" u="sng" cap="none" strike="noStrike">
                <a:solidFill>
                  <a:schemeClr val="hlink"/>
                </a:solidFill>
                <a:latin typeface="Times New Roman"/>
                <a:ea typeface="Times New Roman"/>
                <a:cs typeface="Times New Roman"/>
                <a:sym typeface="Times New Roman"/>
                <a:hlinkClick r:id="rId13"/>
              </a:rPr>
              <a:t>https://prism-backend-4mfu.onrender.com/</a:t>
            </a:r>
            <a:endParaRPr b="0" i="0" sz="1200" u="none" cap="none" strike="noStrike">
              <a:solidFill>
                <a:srgbClr val="000000"/>
              </a:solidFill>
              <a:latin typeface="Times New Roman"/>
              <a:ea typeface="Times New Roman"/>
              <a:cs typeface="Times New Roman"/>
              <a:sym typeface="Times New Roman"/>
            </a:endParaRPr>
          </a:p>
          <a:p>
            <a:pPr indent="0" lvl="0" marL="16932" marR="0" rtl="0" algn="just">
              <a:lnSpc>
                <a:spcPct val="100000"/>
              </a:lnSpc>
              <a:spcBef>
                <a:spcPts val="0"/>
              </a:spcBef>
              <a:spcAft>
                <a:spcPts val="0"/>
              </a:spcAft>
              <a:buClr>
                <a:srgbClr val="000000"/>
              </a:buClr>
              <a:buSzPts val="1200"/>
              <a:buFont typeface="Arial"/>
              <a:buNone/>
            </a:pPr>
            <a:r>
              <a:rPr b="0" i="0" lang="en-US" sz="1000" u="sng" cap="none" strike="noStrike">
                <a:solidFill>
                  <a:schemeClr val="hlink"/>
                </a:solidFill>
                <a:latin typeface="Times New Roman"/>
                <a:ea typeface="Times New Roman"/>
                <a:cs typeface="Times New Roman"/>
                <a:sym typeface="Times New Roman"/>
                <a:hlinkClick r:id="rId14"/>
              </a:rPr>
              <a:t>https://drive.google.com/drive/folders/1Bp1R5hF3XBrDEYBXEWciUBfmwXX_oJC9</a:t>
            </a:r>
            <a:r>
              <a:rPr b="0" i="0" lang="en-US" sz="1000" u="none" cap="none" strike="noStrike">
                <a:solidFill>
                  <a:srgbClr val="000000"/>
                </a:solidFill>
                <a:latin typeface="Times New Roman"/>
                <a:ea typeface="Times New Roman"/>
                <a:cs typeface="Times New Roman"/>
                <a:sym typeface="Times New Roman"/>
              </a:rPr>
              <a:t> </a:t>
            </a:r>
            <a:endParaRPr b="0" i="0" sz="1000" u="none" cap="none" strike="noStrike">
              <a:solidFill>
                <a:srgbClr val="000000"/>
              </a:solidFill>
              <a:latin typeface="Times New Roman"/>
              <a:ea typeface="Times New Roman"/>
              <a:cs typeface="Times New Roman"/>
              <a:sym typeface="Times New Roman"/>
            </a:endParaRPr>
          </a:p>
          <a:p>
            <a:pPr indent="0" lvl="0" marL="16932" marR="0" rtl="0" algn="just">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0" lvl="0" marL="16932" marR="0" rtl="0" algn="just">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pic>
        <p:nvPicPr>
          <p:cNvPr id="115" name="Google Shape;115;p1"/>
          <p:cNvPicPr preferRelativeResize="0"/>
          <p:nvPr/>
        </p:nvPicPr>
        <p:blipFill rotWithShape="1">
          <a:blip r:embed="rId15">
            <a:alphaModFix/>
          </a:blip>
          <a:srcRect b="0" l="0" r="0" t="0"/>
          <a:stretch/>
        </p:blipFill>
        <p:spPr>
          <a:xfrm>
            <a:off x="138793" y="5732070"/>
            <a:ext cx="396000" cy="396000"/>
          </a:xfrm>
          <a:prstGeom prst="rect">
            <a:avLst/>
          </a:prstGeom>
          <a:noFill/>
          <a:ln>
            <a:noFill/>
          </a:ln>
        </p:spPr>
      </p:pic>
      <p:sp>
        <p:nvSpPr>
          <p:cNvPr id="116" name="Google Shape;116;p1"/>
          <p:cNvSpPr txBox="1"/>
          <p:nvPr/>
        </p:nvSpPr>
        <p:spPr>
          <a:xfrm>
            <a:off x="0" y="477912"/>
            <a:ext cx="12192000" cy="4926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1F5C99"/>
                </a:solidFill>
                <a:latin typeface="Times New Roman"/>
                <a:ea typeface="Times New Roman"/>
                <a:cs typeface="Times New Roman"/>
                <a:sym typeface="Times New Roman"/>
              </a:rPr>
              <a:t>Starting TRL: </a:t>
            </a:r>
            <a:r>
              <a:rPr b="1" i="0" lang="en-US" sz="1600" u="none" cap="none" strike="noStrike">
                <a:solidFill>
                  <a:srgbClr val="3F3F3F"/>
                </a:solidFill>
                <a:latin typeface="Times New Roman"/>
                <a:ea typeface="Times New Roman"/>
                <a:cs typeface="Times New Roman"/>
                <a:sym typeface="Times New Roman"/>
              </a:rPr>
              <a:t>(March - TRL 3)</a:t>
            </a:r>
            <a:r>
              <a:rPr b="1" i="0" lang="en-US" sz="1600" u="none" cap="none" strike="noStrike">
                <a:solidFill>
                  <a:schemeClr val="dk1"/>
                </a:solidFill>
                <a:latin typeface="Times New Roman"/>
                <a:ea typeface="Times New Roman"/>
                <a:cs typeface="Times New Roman"/>
                <a:sym typeface="Times New Roman"/>
              </a:rPr>
              <a:t> || </a:t>
            </a:r>
            <a:r>
              <a:rPr b="1" i="0" lang="en-US" sz="1600" u="none" cap="none" strike="noStrike">
                <a:solidFill>
                  <a:srgbClr val="1F5C99"/>
                </a:solidFill>
                <a:latin typeface="Times New Roman"/>
                <a:ea typeface="Times New Roman"/>
                <a:cs typeface="Times New Roman"/>
                <a:sym typeface="Times New Roman"/>
              </a:rPr>
              <a:t>Current TRL: </a:t>
            </a:r>
            <a:r>
              <a:rPr b="1" i="0" lang="en-US" sz="1600" u="none" cap="none" strike="noStrike">
                <a:solidFill>
                  <a:schemeClr val="dk1"/>
                </a:solidFill>
                <a:latin typeface="Times New Roman"/>
                <a:ea typeface="Times New Roman"/>
                <a:cs typeface="Times New Roman"/>
                <a:sym typeface="Times New Roman"/>
              </a:rPr>
              <a:t>3 || </a:t>
            </a:r>
            <a:r>
              <a:rPr b="1" i="0" lang="en-US" sz="1600" u="none" cap="none" strike="noStrike">
                <a:solidFill>
                  <a:srgbClr val="1F5C99"/>
                </a:solidFill>
                <a:latin typeface="Times New Roman"/>
                <a:ea typeface="Times New Roman"/>
                <a:cs typeface="Times New Roman"/>
                <a:sym typeface="Times New Roman"/>
              </a:rPr>
              <a:t>Target TRL: </a:t>
            </a:r>
            <a:r>
              <a:rPr b="1" i="0" lang="en-US" sz="1600" u="none" cap="none" strike="noStrike">
                <a:solidFill>
                  <a:schemeClr val="dk1"/>
                </a:solidFill>
                <a:latin typeface="Times New Roman"/>
                <a:ea typeface="Times New Roman"/>
                <a:cs typeface="Times New Roman"/>
                <a:sym typeface="Times New Roman"/>
              </a:rPr>
              <a:t>4 </a:t>
            </a:r>
            <a:r>
              <a:rPr b="1" i="0" lang="en-US" sz="1600" u="none" cap="none" strike="noStrike">
                <a:solidFill>
                  <a:srgbClr val="3F3F3F"/>
                </a:solidFill>
                <a:latin typeface="Times New Roman"/>
                <a:ea typeface="Times New Roman"/>
                <a:cs typeface="Times New Roman"/>
                <a:sym typeface="Times New Roman"/>
              </a:rPr>
              <a:t>(December-2026)</a:t>
            </a:r>
            <a:r>
              <a:rPr b="1" i="0" lang="en-US" sz="1600" u="none" cap="none" strike="noStrike">
                <a:solidFill>
                  <a:schemeClr val="dk1"/>
                </a:solidFill>
                <a:latin typeface="Times New Roman"/>
                <a:ea typeface="Times New Roman"/>
                <a:cs typeface="Times New Roman"/>
                <a:sym typeface="Times New Roman"/>
              </a:rPr>
              <a:t> || </a:t>
            </a:r>
            <a:r>
              <a:rPr b="1" i="0" lang="en-US" sz="1600" u="none" cap="none" strike="noStrike">
                <a:solidFill>
                  <a:srgbClr val="1F5C99"/>
                </a:solidFill>
                <a:latin typeface="Times New Roman"/>
                <a:ea typeface="Times New Roman"/>
                <a:cs typeface="Times New Roman"/>
                <a:sym typeface="Times New Roman"/>
              </a:rPr>
              <a:t>Overall Project Status: </a:t>
            </a:r>
            <a:endParaRPr b="1" i="0" sz="1600" u="none" cap="none" strike="noStrike">
              <a:solidFill>
                <a:srgbClr val="000000"/>
              </a:solidFill>
              <a:latin typeface="Times New Roman"/>
              <a:ea typeface="Times New Roman"/>
              <a:cs typeface="Times New Roman"/>
              <a:sym typeface="Times New Roman"/>
            </a:endParaRPr>
          </a:p>
        </p:txBody>
      </p:sp>
      <p:cxnSp>
        <p:nvCxnSpPr>
          <p:cNvPr id="117" name="Google Shape;117;p1"/>
          <p:cNvCxnSpPr/>
          <p:nvPr/>
        </p:nvCxnSpPr>
        <p:spPr>
          <a:xfrm>
            <a:off x="495727" y="1817920"/>
            <a:ext cx="11640000" cy="0"/>
          </a:xfrm>
          <a:prstGeom prst="straightConnector1">
            <a:avLst/>
          </a:prstGeom>
          <a:noFill/>
          <a:ln cap="flat" cmpd="sng" w="19050">
            <a:solidFill>
              <a:schemeClr val="dk1"/>
            </a:solidFill>
            <a:prstDash val="solid"/>
            <a:miter lim="8000"/>
            <a:headEnd len="sm" w="sm" type="none"/>
            <a:tailEnd len="sm" w="sm" type="none"/>
          </a:ln>
        </p:spPr>
      </p:cxnSp>
      <p:sp>
        <p:nvSpPr>
          <p:cNvPr id="118" name="Google Shape;118;p1"/>
          <p:cNvSpPr/>
          <p:nvPr/>
        </p:nvSpPr>
        <p:spPr>
          <a:xfrm>
            <a:off x="10973826" y="564185"/>
            <a:ext cx="252900" cy="239700"/>
          </a:xfrm>
          <a:prstGeom prst="ellipse">
            <a:avLst/>
          </a:prstGeom>
          <a:solidFill>
            <a:srgbClr val="B3E5A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595959"/>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2026-01-12T08:43:54Z</dcterms:created>
  <dc:creator>Gaurav Seshan</dc:creator>
</cp:coreProperties>
</file>